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DE ABERTURA — sem narração (2 a 3 segundos de vídeo). Deixe este slide no ar enquanto o vídeo abre e corte para o próximo ao começar o Bloco 1. Se preferir, comece a falar já no slide da dor: o roteiro não tem texto para a capa. Duração alvo do vídeo inteiro: 4min45. O teto do edital é 5min.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1 · A DOR — 50s · ~125 palavras Nós entrevistamos seis profissionais de tecnologia em setembro. Quatro deles estão há dois anos no mercado e continuam classificados como júnior. Não é falta de estudo. Um deles subiu uma automação com uma regra invertida e abriu mais de dois mil tickets em produção. Outra passou cinco dias investigando um sistema de bonificação travado, com a empresa inteira sem receber. Um terceiro passou cinco horas sozinho em um erro, sem pedir ajuda a ninguém. Em todos os casos, a pessoa estava sozinha. Seis de seis relataram um episódio de despreparo em produção. Zero de seis tiveram mentoria técnica formal. O que trava o júnior não é escrever código. É decidir sob pressão, com informação incompleta e sem ninguém para perguntar. E isso, hoje, só se aprende errando na frente do cliente. [CORTE se passar de 5min: o terceiro episódio — as cinco horas sozinho. Nunca corte os números 6 de 6 e 0 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2 · O PÚBLICO — 20s · ~50 palavras Nosso público é o desenvolvedor com até dois anos de mercado que não tem um sênior acessível para perguntar. O corte não é tempo de casa: é ausência de mentoria por perto. Quem trabalha sozinho, em time enxuto, em agência, ou em um time onde perguntar custa caro socialmente. Ele já tem base técnica. Ele trava na situação real. [Bloco curto. Não improvise aqui — 20 segundos é o orçamento.]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3 · A SOLUÇÃO (primeira parte) — parte dos 55s · ~140 palavras no bloco inteiro O SeniorLab é um simulador de mentoria técnica com IA, organizado como uma trilha progressiva com gate de domínio. Todo tópico começa por uma aula. O agente ensina e faz perguntas até conseguir estimar o quanto a pessoa domina aquilo de fato. Só depois que ela demonstra domínio é que abrem as simulações: incidente em produção, code review sênior e decisão de arquitetura. [AQUI entra o clipe de 10s da simulação de incidente, sem áudio — o trecho em que o agente devolve log cru. Depois volte para os slides, no próximo.]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3 · A SOLUÇÃO (segunda parte) — entra depois do clipe de 10s E nas simulações a IA não é assistente. Ela é o sistema quebrado: responde como log, como métrica e como colega de plantão, só revela informação sob a pergunta certa, e piora o cenário quando a decisão é errada. O nível demonstrado na aula, de um a cinco, calibra a simulação seguinte: quantos componentes, quantas pistas falsas, quanta ambiguidade e quanto ruído de stakeholder. Não se compra o acesso à simulação. Conquista-se. [A última frase é o fecho do bloco 3 — dê a pausa antes de emendar o bloco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4 · O DIFERENCIAL (primeira parte) — parte dos 50s · ~125 palavras no bloco inteiro A pergunta óbvia é: por que não usar o ChatGPT, que é gratuito e já está aberto na outra aba? Essa é a resposta mais importante que temos. Os seis entrevistados já usam IA genérica quando travam. E mesmo assim, nenhum deles se sente preparado para produção. A IA genérica é otimizada para cooperar: entrega a resposta e cede quando você insiste. Quem monta o cenário é o próprio aprendiz, então ele só consegue simular o que já imagina. No SeniorLab o cenário é curado, a causa raiz é definida pelo servidor antes da sessão começar, o agente é otimizado para resistir, e a progressão é regra do backend — o modelo não consegue liberar a si mesmo. [Não leia a tabela linha por linha. Fale os dois eixos que importam: postura e avaliação. O fecho do bloco vai no slide seguinte.]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4 · O DIFERENCIAL (fecho) — a frase que NUNCA se corta A IA crua responde perguntas. O júnior não sabe qual pergunta fazer, e é exatamente essa a falha dele em produção. O SeniorLab existe para produzir a pergunta, não a resposta. [Pausa de um segundo antes desta frase e outra depois. É o diferencial do pitch inteiro — o roteiro marca como "nunca cortar".]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5 · A VALIDAÇÃO — 50s · ~125 palavras Seis entrevistas em profundidade, entre dez e dezesseis de setembro, com roteiro de quatro fases. A proposta só aparecia na terceira fase, sem o nome do produto, para não enviesar a reação. As respostas brutas estão em planilha aberta, com o link no PDF da entrega. Seis de seis relataram despreparo em produção, quatro deles espontaneamente. Quatro de seis apontaram arquitetura como o gap principal do aprendizado formal. Cinco de seis demonstraram interesse, e quatro sinalizaram disposição a pagar, com âncoras entre quarenta e cem reais. E a validação mudou o produto. Continuidade entre sessões era item de roadmap: virou escopo do MVP porque um entrevistado perguntou se cada sessão começava do zero. Incluímos um QA sênior como contraponto, de propósito. Ele viu pouco valor — a dor dele é começar projeto do zero, não sobreviver a incidente. Registramos isso como limite de persona. [CORTE se passar de 5min: o parágrafo do QA sênior.]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6 · O MODELO DE NEGÓCIO — 35s · ~90 palavras São duas frentes. Freemium individual a quarenta e nove reais por mês, com preço ancorado nas próprias entrevistas, onde a mediana espontânea foi cinquenta reais. E B2B a trinta e nove reais por assento, licenciado por desenvolvedor contratado. O B2B é resposta direta a um risco que a validação apontou: a persona já paga uma assinatura de IA e resiste a uma segunda. A empresa não tem esse conflito, e mede retorno em semanas de rampeamento. E o MVP opera hoje com custo de inferência zero, porque roda com a chave do próprio usuário. Nossa validação não depende de captação para existir. [CORTE se passar de 5min: a frase do custo de inferência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7 · IMPACTO (primeira parte) — parte dos 30s · ~75 palavras no bloco inteiro Nosso resultado não é "o dev aprendeu um conteúdo". É reduzir o tempo entre saber programar e conseguir decidir sob pressão. E a métrica sai do próprio produto: gaps nomeados por sessão, e a queda da recorrência do mesmo gap ao longo da trilha. [Emende direto no slide do tema — é o mesmo bloco.]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7 · O TEMA (fecho) — parágrafo que NUNCA se corta Sobre o tema do Tech4Change: a IA aqui não substitui o aprendizado humano. Ela cria o ambiente que acelera a maturidade técnica — e dá a quem não tem rede de contatos o acesso à mentoria que hoje depende de sorte de alocação. [É o primeiro critério de avaliação da banca. Fale devagar, olhando a frase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8 · FECHAMENTO — 15s · ~40 palavras O MVP está no ar e pode ser testado agora: o endereço, o repositório e o vídeo de demonstração estão no PDF da entrega. O próximo passo é ampliar a validação para dez ou mais desenvolvedores, com sessões reais do produto. SeniorLab. Obrigado. [Deixe este slide no ar por 2 segundos depois da última palavra, antes de cortar.]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C"/>
        </a:solidFill>
      </p:bgPr>
    </p:bg>
    <p:spTree>
      <p:nvGrpSpPr>
        <p:cNvPr id="1" name=""/>
        <p:cNvGrpSpPr/>
        <p:nvPr/>
      </p:nvGrpSpPr>
      <p:grpSpPr>
        <a:xfrm>
          <a:off x="0" y="0"/>
          <a:ext cx="0" cy="0"/>
          <a:chOff x="0" y="0"/>
          <a:chExt cx="0" cy="0"/>
        </a:xfrm>
      </p:grpSpPr>
      <p:sp>
        <p:nvSpPr>
          <p:cNvPr id="2" name="Text 0"/>
          <p:cNvSpPr/>
          <p:nvPr/>
        </p:nvSpPr>
        <p:spPr>
          <a:xfrm>
            <a:off x="812800" y="213717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8F135"/>
                </a:solidFill>
                <a:latin typeface="Space Mono" pitchFamily="34" charset="0"/>
                <a:ea typeface="Space Mono" pitchFamily="34" charset="-122"/>
                <a:cs typeface="Space Mono" pitchFamily="34" charset="-120"/>
              </a:rPr>
              <a:t>TECH4CHANGE 2026 — GRUPO 16</a:t>
            </a:r>
            <a:endParaRPr lang="en-US" sz="1200" dirty="0"/>
          </a:p>
        </p:txBody>
      </p:sp>
      <p:sp>
        <p:nvSpPr>
          <p:cNvPr id="3" name="Text 1"/>
          <p:cNvSpPr/>
          <p:nvPr/>
        </p:nvSpPr>
        <p:spPr>
          <a:xfrm>
            <a:off x="812800" y="2604492"/>
            <a:ext cx="10883392" cy="930275"/>
          </a:xfrm>
          <a:prstGeom prst="rect">
            <a:avLst/>
          </a:prstGeom>
          <a:noFill/>
          <a:ln/>
        </p:spPr>
        <p:txBody>
          <a:bodyPr wrap="square" lIns="0" tIns="0" rIns="0" bIns="0" rtlCol="0" anchor="t">
            <a:normAutofit/>
          </a:bodyPr>
          <a:lstStyle/>
          <a:p>
            <a:pPr algn="l" indent="0" marL="0">
              <a:lnSpc>
                <a:spcPts val="7125"/>
              </a:lnSpc>
              <a:buNone/>
            </a:pPr>
            <a:r>
              <a:rPr lang="en-US" sz="7500" b="1" dirty="0">
                <a:solidFill>
                  <a:srgbClr val="F2F1EC"/>
                </a:solidFill>
                <a:latin typeface="Space Grotesk" pitchFamily="34" charset="0"/>
                <a:ea typeface="Space Grotesk" pitchFamily="34" charset="-122"/>
                <a:cs typeface="Space Grotesk" pitchFamily="34" charset="-120"/>
              </a:rPr>
              <a:t>Senior</a:t>
            </a:r>
            <a:r>
              <a:rPr lang="en-US" sz="7500" b="1" dirty="0">
                <a:solidFill>
                  <a:srgbClr val="C8F135"/>
                </a:solidFill>
                <a:latin typeface="Space Grotesk" pitchFamily="34" charset="0"/>
                <a:ea typeface="Space Grotesk" pitchFamily="34" charset="-122"/>
                <a:cs typeface="Space Grotesk" pitchFamily="34" charset="-120"/>
              </a:rPr>
              <a:t>Lab</a:t>
            </a:r>
            <a:endParaRPr lang="en-US" sz="7500" dirty="0"/>
          </a:p>
        </p:txBody>
      </p:sp>
      <p:sp>
        <p:nvSpPr>
          <p:cNvPr id="4" name="Text 2"/>
          <p:cNvSpPr/>
          <p:nvPr/>
        </p:nvSpPr>
        <p:spPr>
          <a:xfrm>
            <a:off x="812800" y="3763367"/>
            <a:ext cx="7717790" cy="77966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C9C7C0"/>
                </a:solidFill>
                <a:latin typeface="Space Grotesk" pitchFamily="34" charset="0"/>
                <a:ea typeface="Space Grotesk" pitchFamily="34" charset="-122"/>
                <a:cs typeface="Space Grotesk" pitchFamily="34" charset="-120"/>
              </a:rPr>
              <a:t>A IA que age como o ambiente hostil que o mercado é — para você aprender antes de chegar nele.</a:t>
            </a:r>
            <a:endParaRPr lang="en-US" sz="22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880"/>
                </a:solidFill>
                <a:latin typeface="Space Mono" pitchFamily="34" charset="0"/>
                <a:ea typeface="Space Mono" pitchFamily="34" charset="-122"/>
                <a:cs typeface="Space Mono" pitchFamily="34" charset="-120"/>
              </a:rPr>
              <a:t>Aline Estevo da Silva · Simulador de mentoria técnica com IA · github.com/NyEstevo/senior-lab</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8F135"/>
                </a:solidFill>
                <a:latin typeface="Space Mono" pitchFamily="34" charset="0"/>
                <a:ea typeface="Space Mono" pitchFamily="34" charset="-122"/>
                <a:cs typeface="Space Mono" pitchFamily="34" charset="-120"/>
              </a:rPr>
              <a:t>01 / DOR</a:t>
            </a:r>
            <a:endParaRPr lang="en-US" sz="1200" dirty="0"/>
          </a:p>
        </p:txBody>
      </p:sp>
      <p:sp>
        <p:nvSpPr>
          <p:cNvPr id="3" name="Text 1"/>
          <p:cNvSpPr/>
          <p:nvPr/>
        </p:nvSpPr>
        <p:spPr>
          <a:xfrm>
            <a:off x="812800" y="1254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2F1EC"/>
                </a:solidFill>
                <a:latin typeface="Space Grotesk" pitchFamily="34" charset="0"/>
                <a:ea typeface="Space Grotesk" pitchFamily="34" charset="-122"/>
                <a:cs typeface="Space Grotesk" pitchFamily="34" charset="-120"/>
              </a:rPr>
              <a:t>O problema real</a:t>
            </a:r>
            <a:endParaRPr lang="en-US" sz="3200" dirty="0"/>
          </a:p>
        </p:txBody>
      </p:sp>
      <p:sp>
        <p:nvSpPr>
          <p:cNvPr id="4" name="Text 2"/>
          <p:cNvSpPr/>
          <p:nvPr/>
        </p:nvSpPr>
        <p:spPr>
          <a:xfrm>
            <a:off x="812800" y="1950641"/>
            <a:ext cx="10203180" cy="651470"/>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C9C7C0"/>
                </a:solidFill>
                <a:latin typeface="Space Grotesk" pitchFamily="34" charset="0"/>
                <a:ea typeface="Space Grotesk" pitchFamily="34" charset="-122"/>
                <a:cs typeface="Space Grotesk" pitchFamily="34" charset="-120"/>
              </a:rPr>
              <a:t>O que trava o júnior não é escrever código. É decidir sob pressão, com informação incompleta e sem ninguém para perguntar.</a:t>
            </a:r>
            <a:endParaRPr lang="en-US" sz="1700" dirty="0"/>
          </a:p>
        </p:txBody>
      </p:sp>
      <p:sp>
        <p:nvSpPr>
          <p:cNvPr id="5" name="Shape 3"/>
          <p:cNvSpPr/>
          <p:nvPr/>
        </p:nvSpPr>
        <p:spPr>
          <a:xfrm>
            <a:off x="815975" y="2808486"/>
            <a:ext cx="3414117" cy="1486297"/>
          </a:xfrm>
          <a:prstGeom prst="roundRect">
            <a:avLst>
              <a:gd name="adj" fmla="val 4913"/>
            </a:avLst>
          </a:prstGeom>
          <a:solidFill>
            <a:srgbClr val="151518"/>
          </a:solidFill>
          <a:ln w="6350">
            <a:solidFill>
              <a:srgbClr val="2A2A2C"/>
            </a:solidFill>
            <a:prstDash val="solid"/>
          </a:ln>
        </p:spPr>
      </p:sp>
      <p:sp>
        <p:nvSpPr>
          <p:cNvPr id="6" name="Text 4"/>
          <p:cNvSpPr/>
          <p:nvPr/>
        </p:nvSpPr>
        <p:spPr>
          <a:xfrm>
            <a:off x="1047750" y="3040261"/>
            <a:ext cx="30390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8F135"/>
                </a:solidFill>
                <a:latin typeface="Space Grotesk" pitchFamily="34" charset="0"/>
                <a:ea typeface="Space Grotesk" pitchFamily="34" charset="-122"/>
                <a:cs typeface="Space Grotesk" pitchFamily="34" charset="-120"/>
              </a:rPr>
              <a:t>+2.000 tickets</a:t>
            </a:r>
            <a:endParaRPr lang="en-US" sz="1500" dirty="0"/>
          </a:p>
        </p:txBody>
      </p:sp>
      <p:sp>
        <p:nvSpPr>
          <p:cNvPr id="7" name="Text 5"/>
          <p:cNvSpPr/>
          <p:nvPr/>
        </p:nvSpPr>
        <p:spPr>
          <a:xfrm>
            <a:off x="1047750" y="3345061"/>
            <a:ext cx="3039084"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C7C0"/>
                </a:solidFill>
                <a:latin typeface="Space Grotesk" pitchFamily="34" charset="0"/>
                <a:ea typeface="Space Grotesk" pitchFamily="34" charset="-122"/>
                <a:cs typeface="Space Grotesk" pitchFamily="34" charset="-120"/>
              </a:rPr>
              <a:t>Uma automação com a regra invertida abriu sozinha mais de dois mil tickets em produção.</a:t>
            </a:r>
            <a:endParaRPr lang="en-US" sz="1300" dirty="0"/>
          </a:p>
        </p:txBody>
      </p:sp>
      <p:sp>
        <p:nvSpPr>
          <p:cNvPr id="8" name="Shape 6"/>
          <p:cNvSpPr/>
          <p:nvPr/>
        </p:nvSpPr>
        <p:spPr>
          <a:xfrm>
            <a:off x="4388842" y="2808486"/>
            <a:ext cx="3414216" cy="1486297"/>
          </a:xfrm>
          <a:prstGeom prst="roundRect">
            <a:avLst>
              <a:gd name="adj" fmla="val 4913"/>
            </a:avLst>
          </a:prstGeom>
          <a:solidFill>
            <a:srgbClr val="151518"/>
          </a:solidFill>
          <a:ln w="6350">
            <a:solidFill>
              <a:srgbClr val="2A2A2C"/>
            </a:solidFill>
            <a:prstDash val="solid"/>
          </a:ln>
        </p:spPr>
      </p:sp>
      <p:sp>
        <p:nvSpPr>
          <p:cNvPr id="9" name="Text 7"/>
          <p:cNvSpPr/>
          <p:nvPr/>
        </p:nvSpPr>
        <p:spPr>
          <a:xfrm>
            <a:off x="4620617" y="3040261"/>
            <a:ext cx="30391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8F135"/>
                </a:solidFill>
                <a:latin typeface="Space Grotesk" pitchFamily="34" charset="0"/>
                <a:ea typeface="Space Grotesk" pitchFamily="34" charset="-122"/>
                <a:cs typeface="Space Grotesk" pitchFamily="34" charset="-120"/>
              </a:rPr>
              <a:t>5 dias parados</a:t>
            </a:r>
            <a:endParaRPr lang="en-US" sz="1500" dirty="0"/>
          </a:p>
        </p:txBody>
      </p:sp>
      <p:sp>
        <p:nvSpPr>
          <p:cNvPr id="10" name="Text 8"/>
          <p:cNvSpPr/>
          <p:nvPr/>
        </p:nvSpPr>
        <p:spPr>
          <a:xfrm>
            <a:off x="4620617" y="3345061"/>
            <a:ext cx="3039186"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C7C0"/>
                </a:solidFill>
                <a:latin typeface="Space Grotesk" pitchFamily="34" charset="0"/>
                <a:ea typeface="Space Grotesk" pitchFamily="34" charset="-122"/>
                <a:cs typeface="Space Grotesk" pitchFamily="34" charset="-120"/>
              </a:rPr>
              <a:t>Sistema de bonificação travado, empresa inteira sem receber, cinco dias até a causa.</a:t>
            </a:r>
            <a:endParaRPr lang="en-US" sz="1300" dirty="0"/>
          </a:p>
        </p:txBody>
      </p:sp>
      <p:sp>
        <p:nvSpPr>
          <p:cNvPr id="11" name="Shape 9"/>
          <p:cNvSpPr/>
          <p:nvPr/>
        </p:nvSpPr>
        <p:spPr>
          <a:xfrm>
            <a:off x="7961809" y="2808486"/>
            <a:ext cx="3414216" cy="1486297"/>
          </a:xfrm>
          <a:prstGeom prst="roundRect">
            <a:avLst>
              <a:gd name="adj" fmla="val 4913"/>
            </a:avLst>
          </a:prstGeom>
          <a:solidFill>
            <a:srgbClr val="151518"/>
          </a:solidFill>
          <a:ln w="6350">
            <a:solidFill>
              <a:srgbClr val="2A2A2C"/>
            </a:solidFill>
            <a:prstDash val="solid"/>
          </a:ln>
        </p:spPr>
      </p:sp>
      <p:sp>
        <p:nvSpPr>
          <p:cNvPr id="12" name="Text 10"/>
          <p:cNvSpPr/>
          <p:nvPr/>
        </p:nvSpPr>
        <p:spPr>
          <a:xfrm>
            <a:off x="8193584" y="3040261"/>
            <a:ext cx="30391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8F135"/>
                </a:solidFill>
                <a:latin typeface="Space Grotesk" pitchFamily="34" charset="0"/>
                <a:ea typeface="Space Grotesk" pitchFamily="34" charset="-122"/>
                <a:cs typeface="Space Grotesk" pitchFamily="34" charset="-120"/>
              </a:rPr>
              <a:t>5 horas sozinho</a:t>
            </a:r>
            <a:endParaRPr lang="en-US" sz="1500" dirty="0"/>
          </a:p>
        </p:txBody>
      </p:sp>
      <p:sp>
        <p:nvSpPr>
          <p:cNvPr id="13" name="Text 11"/>
          <p:cNvSpPr/>
          <p:nvPr/>
        </p:nvSpPr>
        <p:spPr>
          <a:xfrm>
            <a:off x="8193584" y="3345061"/>
            <a:ext cx="3039186"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C7C0"/>
                </a:solidFill>
                <a:latin typeface="Space Grotesk" pitchFamily="34" charset="0"/>
                <a:ea typeface="Space Grotesk" pitchFamily="34" charset="-122"/>
                <a:cs typeface="Space Grotesk" pitchFamily="34" charset="-120"/>
              </a:rPr>
              <a:t>Ambiente caindo a cada inserção. Resolveu sem pedir ajuda a ninguém.</a:t>
            </a:r>
            <a:endParaRPr lang="en-US" sz="1300" dirty="0"/>
          </a:p>
        </p:txBody>
      </p:sp>
      <p:sp>
        <p:nvSpPr>
          <p:cNvPr id="14" name="Shape 12"/>
          <p:cNvSpPr/>
          <p:nvPr/>
        </p:nvSpPr>
        <p:spPr>
          <a:xfrm>
            <a:off x="812800" y="4529733"/>
            <a:ext cx="10566400" cy="0"/>
          </a:xfrm>
          <a:prstGeom prst="line">
            <a:avLst/>
          </a:prstGeom>
          <a:noFill/>
          <a:ln w="6350">
            <a:solidFill>
              <a:srgbClr val="2A2A2C"/>
            </a:solidFill>
            <a:prstDash val="solid"/>
          </a:ln>
        </p:spPr>
      </p:sp>
      <p:sp>
        <p:nvSpPr>
          <p:cNvPr id="15" name="Text 13"/>
          <p:cNvSpPr/>
          <p:nvPr/>
        </p:nvSpPr>
        <p:spPr>
          <a:xfrm>
            <a:off x="812800" y="4710708"/>
            <a:ext cx="423088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1EC"/>
                </a:solidFill>
                <a:latin typeface="Space Grotesk" pitchFamily="34" charset="0"/>
                <a:ea typeface="Space Grotesk" pitchFamily="34" charset="-122"/>
                <a:cs typeface="Space Grotesk" pitchFamily="34" charset="-120"/>
              </a:rPr>
              <a:t>6 de 6</a:t>
            </a:r>
            <a:r>
              <a:rPr lang="en-US" sz="1600" dirty="0">
                <a:solidFill>
                  <a:srgbClr val="F2F1EC"/>
                </a:solidFill>
                <a:latin typeface="Space Grotesk" pitchFamily="34" charset="0"/>
                <a:ea typeface="Space Grotesk" pitchFamily="34" charset="-122"/>
                <a:cs typeface="Space Grotesk" pitchFamily="34" charset="-120"/>
              </a:rPr>
              <a:t> relataram despreparo em produção</a:t>
            </a:r>
            <a:endParaRPr lang="en-US" sz="1600" dirty="0"/>
          </a:p>
        </p:txBody>
      </p:sp>
      <p:sp>
        <p:nvSpPr>
          <p:cNvPr id="16" name="Text 14"/>
          <p:cNvSpPr/>
          <p:nvPr/>
        </p:nvSpPr>
        <p:spPr>
          <a:xfrm>
            <a:off x="5326856" y="4710708"/>
            <a:ext cx="391224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1EC"/>
                </a:solidFill>
                <a:latin typeface="Space Grotesk" pitchFamily="34" charset="0"/>
                <a:ea typeface="Space Grotesk" pitchFamily="34" charset="-122"/>
                <a:cs typeface="Space Grotesk" pitchFamily="34" charset="-120"/>
              </a:rPr>
              <a:t>0 de 6</a:t>
            </a:r>
            <a:r>
              <a:rPr lang="en-US" sz="1600" dirty="0">
                <a:solidFill>
                  <a:srgbClr val="F2F1EC"/>
                </a:solidFill>
                <a:latin typeface="Space Grotesk" pitchFamily="34" charset="0"/>
                <a:ea typeface="Space Grotesk" pitchFamily="34" charset="-122"/>
                <a:cs typeface="Space Grotesk" pitchFamily="34" charset="-120"/>
              </a:rPr>
              <a:t> tiveram mentoria técnica formal</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880"/>
                </a:solidFill>
                <a:latin typeface="Space Mono" pitchFamily="34" charset="0"/>
                <a:ea typeface="Space Mono" pitchFamily="34" charset="-122"/>
                <a:cs typeface="Space Mono" pitchFamily="34" charset="-120"/>
              </a:rPr>
              <a:t>Episódios relatados nas entrevistas de validação · set/2026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8F135"/>
                </a:solidFill>
                <a:latin typeface="Space Mono" pitchFamily="34" charset="0"/>
                <a:ea typeface="Space Mono" pitchFamily="34" charset="-122"/>
                <a:cs typeface="Space Mono" pitchFamily="34" charset="-120"/>
              </a:rPr>
              <a:t>02 / PÚBLICO</a:t>
            </a:r>
            <a:endParaRPr lang="en-US" sz="1200" dirty="0"/>
          </a:p>
        </p:txBody>
      </p:sp>
      <p:sp>
        <p:nvSpPr>
          <p:cNvPr id="3" name="Text 1"/>
          <p:cNvSpPr/>
          <p:nvPr/>
        </p:nvSpPr>
        <p:spPr>
          <a:xfrm>
            <a:off x="812800" y="13055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2F1EC"/>
                </a:solidFill>
                <a:latin typeface="Space Grotesk" pitchFamily="34" charset="0"/>
                <a:ea typeface="Space Grotesk" pitchFamily="34" charset="-122"/>
                <a:cs typeface="Space Grotesk" pitchFamily="34" charset="-120"/>
              </a:rPr>
              <a:t>Para quem é</a:t>
            </a:r>
            <a:endParaRPr lang="en-US" sz="3200" dirty="0"/>
          </a:p>
        </p:txBody>
      </p:sp>
      <p:sp>
        <p:nvSpPr>
          <p:cNvPr id="4" name="Text 2"/>
          <p:cNvSpPr/>
          <p:nvPr/>
        </p:nvSpPr>
        <p:spPr>
          <a:xfrm>
            <a:off x="812800" y="2052241"/>
            <a:ext cx="10203180" cy="77966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F2F1EC"/>
                </a:solidFill>
                <a:latin typeface="Space Grotesk" pitchFamily="34" charset="0"/>
                <a:ea typeface="Space Grotesk" pitchFamily="34" charset="-122"/>
                <a:cs typeface="Space Grotesk" pitchFamily="34" charset="-120"/>
              </a:rPr>
              <a:t>Desenvolvedor com </a:t>
            </a:r>
            <a:r>
              <a:rPr lang="en-US" sz="2200" b="1" dirty="0">
                <a:solidFill>
                  <a:srgbClr val="F2F1EC"/>
                </a:solidFill>
                <a:latin typeface="Space Grotesk" pitchFamily="34" charset="0"/>
                <a:ea typeface="Space Grotesk" pitchFamily="34" charset="-122"/>
                <a:cs typeface="Space Grotesk" pitchFamily="34" charset="-120"/>
              </a:rPr>
              <a:t>até 2 anos de mercado</a:t>
            </a:r>
            <a:r>
              <a:rPr lang="en-US" sz="2200" dirty="0">
                <a:solidFill>
                  <a:srgbClr val="F2F1EC"/>
                </a:solidFill>
                <a:latin typeface="Space Grotesk" pitchFamily="34" charset="0"/>
                <a:ea typeface="Space Grotesk" pitchFamily="34" charset="-122"/>
                <a:cs typeface="Space Grotesk" pitchFamily="34" charset="-120"/>
              </a:rPr>
              <a:t> que não tem um sênior acessível para perguntar.</a:t>
            </a:r>
            <a:endParaRPr lang="en-US" sz="2200" dirty="0"/>
          </a:p>
        </p:txBody>
      </p:sp>
      <p:sp>
        <p:nvSpPr>
          <p:cNvPr id="5" name="Shape 3"/>
          <p:cNvSpPr/>
          <p:nvPr/>
        </p:nvSpPr>
        <p:spPr>
          <a:xfrm>
            <a:off x="815975" y="3089077"/>
            <a:ext cx="3414117" cy="1486297"/>
          </a:xfrm>
          <a:prstGeom prst="roundRect">
            <a:avLst>
              <a:gd name="adj" fmla="val 4913"/>
            </a:avLst>
          </a:prstGeom>
          <a:solidFill>
            <a:srgbClr val="151518"/>
          </a:solidFill>
          <a:ln w="6350">
            <a:solidFill>
              <a:srgbClr val="2A2A2C"/>
            </a:solidFill>
            <a:prstDash val="solid"/>
          </a:ln>
        </p:spPr>
      </p:sp>
      <p:sp>
        <p:nvSpPr>
          <p:cNvPr id="6" name="Text 4"/>
          <p:cNvSpPr/>
          <p:nvPr/>
        </p:nvSpPr>
        <p:spPr>
          <a:xfrm>
            <a:off x="1047750" y="3320852"/>
            <a:ext cx="30390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F1EC"/>
                </a:solidFill>
                <a:latin typeface="Space Grotesk" pitchFamily="34" charset="0"/>
                <a:ea typeface="Space Grotesk" pitchFamily="34" charset="-122"/>
                <a:cs typeface="Space Grotesk" pitchFamily="34" charset="-120"/>
              </a:rPr>
              <a:t>O corte não é tempo de casa</a:t>
            </a:r>
            <a:endParaRPr lang="en-US" sz="1500" dirty="0"/>
          </a:p>
        </p:txBody>
      </p:sp>
      <p:sp>
        <p:nvSpPr>
          <p:cNvPr id="7" name="Text 5"/>
          <p:cNvSpPr/>
          <p:nvPr/>
        </p:nvSpPr>
        <p:spPr>
          <a:xfrm>
            <a:off x="1047750" y="3625652"/>
            <a:ext cx="3039084"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C7C0"/>
                </a:solidFill>
                <a:latin typeface="Space Grotesk" pitchFamily="34" charset="0"/>
                <a:ea typeface="Space Grotesk" pitchFamily="34" charset="-122"/>
                <a:cs typeface="Space Grotesk" pitchFamily="34" charset="-120"/>
              </a:rPr>
              <a:t>É ausência de mentoria por perto: quem trabalha sozinho, em time enxuto ou em agência.</a:t>
            </a:r>
            <a:endParaRPr lang="en-US" sz="1300" dirty="0"/>
          </a:p>
        </p:txBody>
      </p:sp>
      <p:sp>
        <p:nvSpPr>
          <p:cNvPr id="8" name="Shape 6"/>
          <p:cNvSpPr/>
          <p:nvPr/>
        </p:nvSpPr>
        <p:spPr>
          <a:xfrm>
            <a:off x="4388842" y="3089077"/>
            <a:ext cx="3414216" cy="1486297"/>
          </a:xfrm>
          <a:prstGeom prst="roundRect">
            <a:avLst>
              <a:gd name="adj" fmla="val 4913"/>
            </a:avLst>
          </a:prstGeom>
          <a:solidFill>
            <a:srgbClr val="151518"/>
          </a:solidFill>
          <a:ln w="6350">
            <a:solidFill>
              <a:srgbClr val="2A2A2C"/>
            </a:solidFill>
            <a:prstDash val="solid"/>
          </a:ln>
        </p:spPr>
      </p:sp>
      <p:sp>
        <p:nvSpPr>
          <p:cNvPr id="9" name="Text 7"/>
          <p:cNvSpPr/>
          <p:nvPr/>
        </p:nvSpPr>
        <p:spPr>
          <a:xfrm>
            <a:off x="4620617" y="3320852"/>
            <a:ext cx="30391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F1EC"/>
                </a:solidFill>
                <a:latin typeface="Space Grotesk" pitchFamily="34" charset="0"/>
                <a:ea typeface="Space Grotesk" pitchFamily="34" charset="-122"/>
                <a:cs typeface="Space Grotesk" pitchFamily="34" charset="-120"/>
              </a:rPr>
              <a:t>Já tem base técnica</a:t>
            </a:r>
            <a:endParaRPr lang="en-US" sz="1500" dirty="0"/>
          </a:p>
        </p:txBody>
      </p:sp>
      <p:sp>
        <p:nvSpPr>
          <p:cNvPr id="10" name="Text 8"/>
          <p:cNvSpPr/>
          <p:nvPr/>
        </p:nvSpPr>
        <p:spPr>
          <a:xfrm>
            <a:off x="4620617" y="3625652"/>
            <a:ext cx="3039186"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C7C0"/>
                </a:solidFill>
                <a:latin typeface="Space Grotesk" pitchFamily="34" charset="0"/>
                <a:ea typeface="Space Grotesk" pitchFamily="34" charset="-122"/>
                <a:cs typeface="Space Grotesk" pitchFamily="34" charset="-120"/>
              </a:rPr>
              <a:t>Trava na situação real de pressão, não no conceito. Perguntar custa caro socialmente no time.</a:t>
            </a:r>
            <a:endParaRPr lang="en-US" sz="1300" dirty="0"/>
          </a:p>
        </p:txBody>
      </p:sp>
      <p:sp>
        <p:nvSpPr>
          <p:cNvPr id="11" name="Shape 9"/>
          <p:cNvSpPr/>
          <p:nvPr/>
        </p:nvSpPr>
        <p:spPr>
          <a:xfrm>
            <a:off x="7961809" y="3089077"/>
            <a:ext cx="3414216" cy="1486297"/>
          </a:xfrm>
          <a:prstGeom prst="roundRect">
            <a:avLst>
              <a:gd name="adj" fmla="val 4913"/>
            </a:avLst>
          </a:prstGeom>
          <a:solidFill>
            <a:srgbClr val="151518"/>
          </a:solidFill>
          <a:ln w="6350">
            <a:solidFill>
              <a:srgbClr val="2A2A2C"/>
            </a:solidFill>
            <a:prstDash val="solid"/>
          </a:ln>
        </p:spPr>
      </p:sp>
      <p:sp>
        <p:nvSpPr>
          <p:cNvPr id="12" name="Text 10"/>
          <p:cNvSpPr/>
          <p:nvPr/>
        </p:nvSpPr>
        <p:spPr>
          <a:xfrm>
            <a:off x="8193584" y="3320852"/>
            <a:ext cx="30391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F1EC"/>
                </a:solidFill>
                <a:latin typeface="Space Grotesk" pitchFamily="34" charset="0"/>
                <a:ea typeface="Space Grotesk" pitchFamily="34" charset="-122"/>
                <a:cs typeface="Space Grotesk" pitchFamily="34" charset="-120"/>
              </a:rPr>
              <a:t>Recorre à IA genérica</a:t>
            </a:r>
            <a:endParaRPr lang="en-US" sz="1500" dirty="0"/>
          </a:p>
        </p:txBody>
      </p:sp>
      <p:sp>
        <p:nvSpPr>
          <p:cNvPr id="13" name="Text 11"/>
          <p:cNvSpPr/>
          <p:nvPr/>
        </p:nvSpPr>
        <p:spPr>
          <a:xfrm>
            <a:off x="8193584" y="3625652"/>
            <a:ext cx="3039186"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C7C0"/>
                </a:solidFill>
                <a:latin typeface="Space Grotesk" pitchFamily="34" charset="0"/>
                <a:ea typeface="Space Grotesk" pitchFamily="34" charset="-122"/>
                <a:cs typeface="Space Grotesk" pitchFamily="34" charset="-120"/>
              </a:rPr>
              <a:t>Justamente porque não tem a quem perguntar — e segue sem se sentir preparado.</a:t>
            </a:r>
            <a:endParaRPr lang="en-US" sz="13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880"/>
                </a:solidFill>
                <a:latin typeface="Space Mono" pitchFamily="34" charset="0"/>
                <a:ea typeface="Space Mono" pitchFamily="34" charset="-122"/>
                <a:cs typeface="Space Mono" pitchFamily="34" charset="-120"/>
              </a:rPr>
              <a:t>Roadmap de persona: pleno → sênior, estudantes formais, perfis agnósticos por domínio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8F135"/>
                </a:solidFill>
                <a:latin typeface="Space Mono" pitchFamily="34" charset="0"/>
                <a:ea typeface="Space Mono" pitchFamily="34" charset="-122"/>
                <a:cs typeface="Space Mono" pitchFamily="34" charset="-120"/>
              </a:rPr>
              <a:t>03 / SOLUÇÃO</a:t>
            </a:r>
            <a:endParaRPr lang="en-US" sz="1200" dirty="0"/>
          </a:p>
        </p:txBody>
      </p:sp>
      <p:sp>
        <p:nvSpPr>
          <p:cNvPr id="3" name="Text 1"/>
          <p:cNvSpPr/>
          <p:nvPr/>
        </p:nvSpPr>
        <p:spPr>
          <a:xfrm>
            <a:off x="812800" y="13055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2F1EC"/>
                </a:solidFill>
                <a:latin typeface="Space Grotesk" pitchFamily="34" charset="0"/>
                <a:ea typeface="Space Grotesk" pitchFamily="34" charset="-122"/>
                <a:cs typeface="Space Grotesk" pitchFamily="34" charset="-120"/>
              </a:rPr>
              <a:t>O que é o SeniorLab</a:t>
            </a:r>
            <a:endParaRPr lang="en-US" sz="3200" dirty="0"/>
          </a:p>
        </p:txBody>
      </p:sp>
      <p:sp>
        <p:nvSpPr>
          <p:cNvPr id="4" name="Text 2"/>
          <p:cNvSpPr/>
          <p:nvPr/>
        </p:nvSpPr>
        <p:spPr>
          <a:xfrm>
            <a:off x="812800" y="2052241"/>
            <a:ext cx="1020318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2F1EC"/>
                </a:solidFill>
                <a:latin typeface="Space Grotesk" pitchFamily="34" charset="0"/>
                <a:ea typeface="Space Grotesk" pitchFamily="34" charset="-122"/>
                <a:cs typeface="Space Grotesk" pitchFamily="34" charset="-120"/>
              </a:rPr>
              <a:t>Um simulador de mentoria técnica com IA, organizado como </a:t>
            </a:r>
            <a:r>
              <a:rPr lang="en-US" sz="2000" b="1" dirty="0">
                <a:solidFill>
                  <a:srgbClr val="F2F1EC"/>
                </a:solidFill>
                <a:latin typeface="Space Grotesk" pitchFamily="34" charset="0"/>
                <a:ea typeface="Space Grotesk" pitchFamily="34" charset="-122"/>
                <a:cs typeface="Space Grotesk" pitchFamily="34" charset="-120"/>
              </a:rPr>
              <a:t>trilha progressiva com gate de domínio</a:t>
            </a:r>
            <a:r>
              <a:rPr lang="en-US" sz="2000" dirty="0">
                <a:solidFill>
                  <a:srgbClr val="F2F1EC"/>
                </a:solidFill>
                <a:latin typeface="Space Grotesk" pitchFamily="34" charset="0"/>
                <a:ea typeface="Space Grotesk" pitchFamily="34" charset="-122"/>
                <a:cs typeface="Space Grotesk" pitchFamily="34" charset="-120"/>
              </a:rPr>
              <a:t>.</a:t>
            </a:r>
            <a:endParaRPr lang="en-US" sz="2000" dirty="0"/>
          </a:p>
        </p:txBody>
      </p:sp>
      <p:sp>
        <p:nvSpPr>
          <p:cNvPr id="5" name="Shape 3"/>
          <p:cNvSpPr/>
          <p:nvPr/>
        </p:nvSpPr>
        <p:spPr>
          <a:xfrm>
            <a:off x="812800" y="3042841"/>
            <a:ext cx="3420467" cy="1784648"/>
          </a:xfrm>
          <a:prstGeom prst="roundRect">
            <a:avLst>
              <a:gd name="adj" fmla="val 4270"/>
            </a:avLst>
          </a:prstGeom>
          <a:solidFill>
            <a:srgbClr val="151518"/>
          </a:solidFill>
          <a:ln/>
        </p:spPr>
      </p:sp>
      <p:sp>
        <p:nvSpPr>
          <p:cNvPr id="6" name="Shape 4"/>
          <p:cNvSpPr/>
          <p:nvPr/>
        </p:nvSpPr>
        <p:spPr>
          <a:xfrm>
            <a:off x="825500" y="3042841"/>
            <a:ext cx="0" cy="1784648"/>
          </a:xfrm>
          <a:prstGeom prst="line">
            <a:avLst/>
          </a:prstGeom>
          <a:noFill/>
          <a:ln w="25400">
            <a:solidFill>
              <a:srgbClr val="C8F135"/>
            </a:solidFill>
            <a:prstDash val="solid"/>
          </a:ln>
        </p:spPr>
      </p:sp>
      <p:sp>
        <p:nvSpPr>
          <p:cNvPr id="7" name="Text 5"/>
          <p:cNvSpPr/>
          <p:nvPr/>
        </p:nvSpPr>
        <p:spPr>
          <a:xfrm>
            <a:off x="1066800" y="3271441"/>
            <a:ext cx="30260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880"/>
                </a:solidFill>
                <a:latin typeface="Space Mono" pitchFamily="34" charset="0"/>
                <a:ea typeface="Space Mono" pitchFamily="34" charset="-122"/>
                <a:cs typeface="Space Mono" pitchFamily="34" charset="-120"/>
              </a:rPr>
              <a:t>PASSO 01</a:t>
            </a:r>
            <a:endParaRPr lang="en-US" sz="1200" dirty="0"/>
          </a:p>
        </p:txBody>
      </p:sp>
      <p:sp>
        <p:nvSpPr>
          <p:cNvPr id="8" name="Text 6"/>
          <p:cNvSpPr/>
          <p:nvPr/>
        </p:nvSpPr>
        <p:spPr>
          <a:xfrm>
            <a:off x="1066800" y="3560961"/>
            <a:ext cx="30260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1EC"/>
                </a:solidFill>
                <a:latin typeface="Space Grotesk" pitchFamily="34" charset="0"/>
                <a:ea typeface="Space Grotesk" pitchFamily="34" charset="-122"/>
                <a:cs typeface="Space Grotesk" pitchFamily="34" charset="-120"/>
              </a:rPr>
              <a:t>Aula</a:t>
            </a:r>
            <a:endParaRPr lang="en-US" sz="1600" dirty="0"/>
          </a:p>
        </p:txBody>
      </p:sp>
      <p:sp>
        <p:nvSpPr>
          <p:cNvPr id="9" name="Text 7"/>
          <p:cNvSpPr/>
          <p:nvPr/>
        </p:nvSpPr>
        <p:spPr>
          <a:xfrm>
            <a:off x="1066800" y="3880941"/>
            <a:ext cx="3026003"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C7C0"/>
                </a:solidFill>
                <a:latin typeface="Space Grotesk" pitchFamily="34" charset="0"/>
                <a:ea typeface="Space Grotesk" pitchFamily="34" charset="-122"/>
                <a:cs typeface="Space Grotesk" pitchFamily="34" charset="-120"/>
              </a:rPr>
              <a:t>O agente ensina e pergunta até estimar o quanto a pessoa domina aquilo de fato.</a:t>
            </a:r>
            <a:endParaRPr lang="en-US" sz="1300" dirty="0"/>
          </a:p>
        </p:txBody>
      </p:sp>
      <p:sp>
        <p:nvSpPr>
          <p:cNvPr id="10" name="Shape 8"/>
          <p:cNvSpPr/>
          <p:nvPr/>
        </p:nvSpPr>
        <p:spPr>
          <a:xfrm>
            <a:off x="4385667" y="3042841"/>
            <a:ext cx="3420566" cy="1784648"/>
          </a:xfrm>
          <a:prstGeom prst="roundRect">
            <a:avLst>
              <a:gd name="adj" fmla="val 4270"/>
            </a:avLst>
          </a:prstGeom>
          <a:solidFill>
            <a:srgbClr val="151518"/>
          </a:solidFill>
          <a:ln/>
        </p:spPr>
      </p:sp>
      <p:sp>
        <p:nvSpPr>
          <p:cNvPr id="11" name="Shape 9"/>
          <p:cNvSpPr/>
          <p:nvPr/>
        </p:nvSpPr>
        <p:spPr>
          <a:xfrm>
            <a:off x="4398367" y="3042841"/>
            <a:ext cx="0" cy="1784648"/>
          </a:xfrm>
          <a:prstGeom prst="line">
            <a:avLst/>
          </a:prstGeom>
          <a:noFill/>
          <a:ln w="25400">
            <a:solidFill>
              <a:srgbClr val="C8F135"/>
            </a:solidFill>
            <a:prstDash val="solid"/>
          </a:ln>
        </p:spPr>
      </p:sp>
      <p:sp>
        <p:nvSpPr>
          <p:cNvPr id="12" name="Text 10"/>
          <p:cNvSpPr/>
          <p:nvPr/>
        </p:nvSpPr>
        <p:spPr>
          <a:xfrm>
            <a:off x="4639667" y="3271441"/>
            <a:ext cx="30261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880"/>
                </a:solidFill>
                <a:latin typeface="Space Mono" pitchFamily="34" charset="0"/>
                <a:ea typeface="Space Mono" pitchFamily="34" charset="-122"/>
                <a:cs typeface="Space Mono" pitchFamily="34" charset="-120"/>
              </a:rPr>
              <a:t>PASSO 02</a:t>
            </a:r>
            <a:endParaRPr lang="en-US" sz="1200" dirty="0"/>
          </a:p>
        </p:txBody>
      </p:sp>
      <p:sp>
        <p:nvSpPr>
          <p:cNvPr id="13" name="Text 11"/>
          <p:cNvSpPr/>
          <p:nvPr/>
        </p:nvSpPr>
        <p:spPr>
          <a:xfrm>
            <a:off x="4639667" y="3560961"/>
            <a:ext cx="302610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1EC"/>
                </a:solidFill>
                <a:latin typeface="Space Grotesk" pitchFamily="34" charset="0"/>
                <a:ea typeface="Space Grotesk" pitchFamily="34" charset="-122"/>
                <a:cs typeface="Space Grotesk" pitchFamily="34" charset="-120"/>
              </a:rPr>
              <a:t>Gate de domínio</a:t>
            </a:r>
            <a:endParaRPr lang="en-US" sz="1600" dirty="0"/>
          </a:p>
        </p:txBody>
      </p:sp>
      <p:sp>
        <p:nvSpPr>
          <p:cNvPr id="14" name="Text 12"/>
          <p:cNvSpPr/>
          <p:nvPr/>
        </p:nvSpPr>
        <p:spPr>
          <a:xfrm>
            <a:off x="4639667" y="3880941"/>
            <a:ext cx="3026105"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C7C0"/>
                </a:solidFill>
                <a:latin typeface="Space Grotesk" pitchFamily="34" charset="0"/>
                <a:ea typeface="Space Grotesk" pitchFamily="34" charset="-122"/>
                <a:cs typeface="Space Grotesk" pitchFamily="34" charset="-120"/>
              </a:rPr>
              <a:t>Sem domínio demonstrado, nada abre. Com domínio, registra-se o nível de 1 a 5.</a:t>
            </a:r>
            <a:endParaRPr lang="en-US" sz="1300" dirty="0"/>
          </a:p>
        </p:txBody>
      </p:sp>
      <p:sp>
        <p:nvSpPr>
          <p:cNvPr id="15" name="Shape 13"/>
          <p:cNvSpPr/>
          <p:nvPr/>
        </p:nvSpPr>
        <p:spPr>
          <a:xfrm>
            <a:off x="7958634" y="3042841"/>
            <a:ext cx="3420566" cy="1784648"/>
          </a:xfrm>
          <a:prstGeom prst="roundRect">
            <a:avLst>
              <a:gd name="adj" fmla="val 4270"/>
            </a:avLst>
          </a:prstGeom>
          <a:solidFill>
            <a:srgbClr val="151518"/>
          </a:solidFill>
          <a:ln/>
        </p:spPr>
      </p:sp>
      <p:sp>
        <p:nvSpPr>
          <p:cNvPr id="16" name="Shape 14"/>
          <p:cNvSpPr/>
          <p:nvPr/>
        </p:nvSpPr>
        <p:spPr>
          <a:xfrm>
            <a:off x="7971334" y="3042841"/>
            <a:ext cx="0" cy="1784648"/>
          </a:xfrm>
          <a:prstGeom prst="line">
            <a:avLst/>
          </a:prstGeom>
          <a:noFill/>
          <a:ln w="25400">
            <a:solidFill>
              <a:srgbClr val="C8F135"/>
            </a:solidFill>
            <a:prstDash val="solid"/>
          </a:ln>
        </p:spPr>
      </p:sp>
      <p:sp>
        <p:nvSpPr>
          <p:cNvPr id="17" name="Text 15"/>
          <p:cNvSpPr/>
          <p:nvPr/>
        </p:nvSpPr>
        <p:spPr>
          <a:xfrm>
            <a:off x="8212634" y="3271441"/>
            <a:ext cx="30261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880"/>
                </a:solidFill>
                <a:latin typeface="Space Mono" pitchFamily="34" charset="0"/>
                <a:ea typeface="Space Mono" pitchFamily="34" charset="-122"/>
                <a:cs typeface="Space Mono" pitchFamily="34" charset="-120"/>
              </a:rPr>
              <a:t>PASSO 03</a:t>
            </a:r>
            <a:endParaRPr lang="en-US" sz="1200" dirty="0"/>
          </a:p>
        </p:txBody>
      </p:sp>
      <p:sp>
        <p:nvSpPr>
          <p:cNvPr id="18" name="Text 16"/>
          <p:cNvSpPr/>
          <p:nvPr/>
        </p:nvSpPr>
        <p:spPr>
          <a:xfrm>
            <a:off x="8212634" y="3560961"/>
            <a:ext cx="302610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1EC"/>
                </a:solidFill>
                <a:latin typeface="Space Grotesk" pitchFamily="34" charset="0"/>
                <a:ea typeface="Space Grotesk" pitchFamily="34" charset="-122"/>
                <a:cs typeface="Space Grotesk" pitchFamily="34" charset="-120"/>
              </a:rPr>
              <a:t>Simulação</a:t>
            </a:r>
            <a:endParaRPr lang="en-US" sz="1600" dirty="0"/>
          </a:p>
        </p:txBody>
      </p:sp>
      <p:sp>
        <p:nvSpPr>
          <p:cNvPr id="19" name="Text 17"/>
          <p:cNvSpPr/>
          <p:nvPr/>
        </p:nvSpPr>
        <p:spPr>
          <a:xfrm>
            <a:off x="8212634" y="3880941"/>
            <a:ext cx="3026105"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C7C0"/>
                </a:solidFill>
                <a:latin typeface="Space Grotesk" pitchFamily="34" charset="0"/>
                <a:ea typeface="Space Grotesk" pitchFamily="34" charset="-122"/>
                <a:cs typeface="Space Grotesk" pitchFamily="34" charset="-120"/>
              </a:rPr>
              <a:t>Incidente em produção, code review sênior e decisão de arquitetura — no seu nível.</a:t>
            </a:r>
            <a:endParaRPr lang="en-US" sz="13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F135"/>
                </a:solidFill>
                <a:latin typeface="Space Mono" pitchFamily="34" charset="0"/>
                <a:ea typeface="Space Mono" pitchFamily="34" charset="-122"/>
                <a:cs typeface="Space Mono" pitchFamily="34" charset="-120"/>
              </a:rPr>
              <a:t>Não se compra o acesso à simulação — conquista-se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8F135"/>
                </a:solidFill>
                <a:latin typeface="Space Mono" pitchFamily="34" charset="0"/>
                <a:ea typeface="Space Mono" pitchFamily="34" charset="-122"/>
                <a:cs typeface="Space Mono" pitchFamily="34" charset="-120"/>
              </a:rPr>
              <a:t>03 / SOLUÇÃO</a:t>
            </a:r>
            <a:endParaRPr lang="en-US" sz="1200" dirty="0"/>
          </a:p>
        </p:txBody>
      </p:sp>
      <p:sp>
        <p:nvSpPr>
          <p:cNvPr id="3" name="Text 1"/>
          <p:cNvSpPr/>
          <p:nvPr/>
        </p:nvSpPr>
        <p:spPr>
          <a:xfrm>
            <a:off x="812800" y="1254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2F1EC"/>
                </a:solidFill>
                <a:latin typeface="Space Grotesk" pitchFamily="34" charset="0"/>
                <a:ea typeface="Space Grotesk" pitchFamily="34" charset="-122"/>
                <a:cs typeface="Space Grotesk" pitchFamily="34" charset="-120"/>
              </a:rPr>
              <a:t>Cinco tipos de sessão, calibrados pelo nível</a:t>
            </a:r>
            <a:endParaRPr lang="en-US" sz="3200" dirty="0"/>
          </a:p>
        </p:txBody>
      </p:sp>
      <p:sp>
        <p:nvSpPr>
          <p:cNvPr id="4" name="Shape 2"/>
          <p:cNvSpPr/>
          <p:nvPr/>
        </p:nvSpPr>
        <p:spPr>
          <a:xfrm>
            <a:off x="815975" y="1953816"/>
            <a:ext cx="3414117" cy="1466850"/>
          </a:xfrm>
          <a:prstGeom prst="roundRect">
            <a:avLst>
              <a:gd name="adj" fmla="val 4978"/>
            </a:avLst>
          </a:prstGeom>
          <a:solidFill>
            <a:srgbClr val="151518"/>
          </a:solidFill>
          <a:ln w="6350">
            <a:solidFill>
              <a:srgbClr val="2A2A2C"/>
            </a:solidFill>
            <a:prstDash val="solid"/>
          </a:ln>
        </p:spPr>
      </p:sp>
      <p:pic>
        <p:nvPicPr>
          <p:cNvPr id="5" name="Image 0" descr="Book">    </p:cNvPr>
          <p:cNvPicPr>
            <a:picLocks noChangeAspect="1"/>
          </p:cNvPicPr>
          <p:nvPr/>
        </p:nvPicPr>
        <p:blipFill>
          <a:blip r:embed="rId1"/>
          <a:srcRect l="0" r="0" t="0" b="0"/>
          <a:stretch/>
        </p:blipFill>
        <p:spPr>
          <a:xfrm>
            <a:off x="1022350" y="2160191"/>
            <a:ext cx="254000" cy="254000"/>
          </a:xfrm>
          <a:prstGeom prst="rect">
            <a:avLst/>
          </a:prstGeom>
        </p:spPr>
      </p:pic>
      <p:sp>
        <p:nvSpPr>
          <p:cNvPr id="6" name="Text 3"/>
          <p:cNvSpPr/>
          <p:nvPr/>
        </p:nvSpPr>
        <p:spPr>
          <a:xfrm>
            <a:off x="1022350" y="2477691"/>
            <a:ext cx="30914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F1EC"/>
                </a:solidFill>
                <a:latin typeface="Space Grotesk" pitchFamily="34" charset="0"/>
                <a:ea typeface="Space Grotesk" pitchFamily="34" charset="-122"/>
                <a:cs typeface="Space Grotesk" pitchFamily="34" charset="-120"/>
              </a:rPr>
              <a:t>Aula</a:t>
            </a:r>
            <a:endParaRPr lang="en-US" sz="1500" dirty="0"/>
          </a:p>
        </p:txBody>
      </p:sp>
      <p:sp>
        <p:nvSpPr>
          <p:cNvPr id="7" name="Text 4"/>
          <p:cNvSpPr/>
          <p:nvPr/>
        </p:nvSpPr>
        <p:spPr>
          <a:xfrm>
            <a:off x="1022350" y="2769791"/>
            <a:ext cx="3091408"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C9C7C0"/>
                </a:solidFill>
                <a:latin typeface="Space Grotesk" pitchFamily="34" charset="0"/>
                <a:ea typeface="Space Grotesk" pitchFamily="34" charset="-122"/>
                <a:cs typeface="Space Grotesk" pitchFamily="34" charset="-120"/>
              </a:rPr>
              <a:t>Ensina o tópico e registra o nível demonstrado, de 1 a 5.</a:t>
            </a:r>
            <a:endParaRPr lang="en-US" sz="1250" dirty="0"/>
          </a:p>
        </p:txBody>
      </p:sp>
      <p:sp>
        <p:nvSpPr>
          <p:cNvPr id="8" name="Shape 5"/>
          <p:cNvSpPr/>
          <p:nvPr/>
        </p:nvSpPr>
        <p:spPr>
          <a:xfrm>
            <a:off x="4388842" y="1953816"/>
            <a:ext cx="3414216" cy="1466850"/>
          </a:xfrm>
          <a:prstGeom prst="roundRect">
            <a:avLst>
              <a:gd name="adj" fmla="val 4978"/>
            </a:avLst>
          </a:prstGeom>
          <a:solidFill>
            <a:srgbClr val="151518"/>
          </a:solidFill>
          <a:ln w="6350">
            <a:solidFill>
              <a:srgbClr val="2A2A2C"/>
            </a:solidFill>
            <a:prstDash val="solid"/>
          </a:ln>
        </p:spPr>
      </p:sp>
      <p:pic>
        <p:nvPicPr>
          <p:cNvPr id="9" name="Image 1" descr="Activity">    </p:cNvPr>
          <p:cNvPicPr>
            <a:picLocks noChangeAspect="1"/>
          </p:cNvPicPr>
          <p:nvPr/>
        </p:nvPicPr>
        <p:blipFill>
          <a:blip r:embed="rId2"/>
          <a:srcRect l="0" r="0" t="0" b="0"/>
          <a:stretch/>
        </p:blipFill>
        <p:spPr>
          <a:xfrm>
            <a:off x="4595217" y="2160191"/>
            <a:ext cx="254000" cy="254000"/>
          </a:xfrm>
          <a:prstGeom prst="rect">
            <a:avLst/>
          </a:prstGeom>
        </p:spPr>
      </p:pic>
      <p:sp>
        <p:nvSpPr>
          <p:cNvPr id="10" name="Text 6"/>
          <p:cNvSpPr/>
          <p:nvPr/>
        </p:nvSpPr>
        <p:spPr>
          <a:xfrm>
            <a:off x="4595217" y="247769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F1EC"/>
                </a:solidFill>
                <a:latin typeface="Space Grotesk" pitchFamily="34" charset="0"/>
                <a:ea typeface="Space Grotesk" pitchFamily="34" charset="-122"/>
                <a:cs typeface="Space Grotesk" pitchFamily="34" charset="-120"/>
              </a:rPr>
              <a:t>Revisão</a:t>
            </a:r>
            <a:endParaRPr lang="en-US" sz="1500" dirty="0"/>
          </a:p>
        </p:txBody>
      </p:sp>
      <p:sp>
        <p:nvSpPr>
          <p:cNvPr id="11" name="Text 7"/>
          <p:cNvSpPr/>
          <p:nvPr/>
        </p:nvSpPr>
        <p:spPr>
          <a:xfrm>
            <a:off x="4595217" y="2769791"/>
            <a:ext cx="3091510"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C9C7C0"/>
                </a:solidFill>
                <a:latin typeface="Space Grotesk" pitchFamily="34" charset="0"/>
                <a:ea typeface="Space Grotesk" pitchFamily="34" charset="-122"/>
                <a:cs typeface="Space Grotesk" pitchFamily="34" charset="-120"/>
              </a:rPr>
              <a:t>Retoma os pontos em que o aluno ficou superficial.</a:t>
            </a:r>
            <a:endParaRPr lang="en-US" sz="1250" dirty="0"/>
          </a:p>
        </p:txBody>
      </p:sp>
      <p:sp>
        <p:nvSpPr>
          <p:cNvPr id="12" name="Shape 8"/>
          <p:cNvSpPr/>
          <p:nvPr/>
        </p:nvSpPr>
        <p:spPr>
          <a:xfrm>
            <a:off x="7961809" y="1953816"/>
            <a:ext cx="3414216" cy="1466850"/>
          </a:xfrm>
          <a:prstGeom prst="roundRect">
            <a:avLst>
              <a:gd name="adj" fmla="val 4978"/>
            </a:avLst>
          </a:prstGeom>
          <a:solidFill>
            <a:srgbClr val="151518"/>
          </a:solidFill>
          <a:ln w="6350">
            <a:solidFill>
              <a:srgbClr val="2A2A2C"/>
            </a:solidFill>
            <a:prstDash val="solid"/>
          </a:ln>
        </p:spPr>
      </p:sp>
      <p:pic>
        <p:nvPicPr>
          <p:cNvPr id="13" name="Image 2" descr="Warning">    </p:cNvPr>
          <p:cNvPicPr>
            <a:picLocks noChangeAspect="1"/>
          </p:cNvPicPr>
          <p:nvPr/>
        </p:nvPicPr>
        <p:blipFill>
          <a:blip r:embed="rId3"/>
          <a:srcRect l="0" r="0" t="0" b="0"/>
          <a:stretch/>
        </p:blipFill>
        <p:spPr>
          <a:xfrm>
            <a:off x="8168184" y="2160191"/>
            <a:ext cx="254000" cy="254000"/>
          </a:xfrm>
          <a:prstGeom prst="rect">
            <a:avLst/>
          </a:prstGeom>
        </p:spPr>
      </p:pic>
      <p:sp>
        <p:nvSpPr>
          <p:cNvPr id="14" name="Text 9"/>
          <p:cNvSpPr/>
          <p:nvPr/>
        </p:nvSpPr>
        <p:spPr>
          <a:xfrm>
            <a:off x="8168184" y="247769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F1EC"/>
                </a:solidFill>
                <a:latin typeface="Space Grotesk" pitchFamily="34" charset="0"/>
                <a:ea typeface="Space Grotesk" pitchFamily="34" charset="-122"/>
                <a:cs typeface="Space Grotesk" pitchFamily="34" charset="-120"/>
              </a:rPr>
              <a:t>Incidente</a:t>
            </a:r>
            <a:endParaRPr lang="en-US" sz="1500" dirty="0"/>
          </a:p>
        </p:txBody>
      </p:sp>
      <p:sp>
        <p:nvSpPr>
          <p:cNvPr id="15" name="Text 10"/>
          <p:cNvSpPr/>
          <p:nvPr/>
        </p:nvSpPr>
        <p:spPr>
          <a:xfrm>
            <a:off x="8168184" y="2769791"/>
            <a:ext cx="3091510"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C9C7C0"/>
                </a:solidFill>
                <a:latin typeface="Space Grotesk" pitchFamily="34" charset="0"/>
                <a:ea typeface="Space Grotesk" pitchFamily="34" charset="-122"/>
                <a:cs typeface="Space Grotesk" pitchFamily="34" charset="-120"/>
              </a:rPr>
              <a:t>A IA é o sistema quebrado: log, métrica e colega de plantão.</a:t>
            </a:r>
            <a:endParaRPr lang="en-US" sz="1250" dirty="0"/>
          </a:p>
        </p:txBody>
      </p:sp>
      <p:sp>
        <p:nvSpPr>
          <p:cNvPr id="16" name="Shape 11"/>
          <p:cNvSpPr/>
          <p:nvPr/>
        </p:nvSpPr>
        <p:spPr>
          <a:xfrm>
            <a:off x="815975" y="3579416"/>
            <a:ext cx="3414117" cy="1466850"/>
          </a:xfrm>
          <a:prstGeom prst="roundRect">
            <a:avLst>
              <a:gd name="adj" fmla="val 4978"/>
            </a:avLst>
          </a:prstGeom>
          <a:solidFill>
            <a:srgbClr val="151518"/>
          </a:solidFill>
          <a:ln w="6350">
            <a:solidFill>
              <a:srgbClr val="2A2A2C"/>
            </a:solidFill>
            <a:prstDash val="solid"/>
          </a:ln>
        </p:spPr>
      </p:sp>
      <p:pic>
        <p:nvPicPr>
          <p:cNvPr id="17" name="Image 3" descr="Code">    </p:cNvPr>
          <p:cNvPicPr>
            <a:picLocks noChangeAspect="1"/>
          </p:cNvPicPr>
          <p:nvPr/>
        </p:nvPicPr>
        <p:blipFill>
          <a:blip r:embed="rId4"/>
          <a:srcRect l="0" r="0" t="0" b="0"/>
          <a:stretch/>
        </p:blipFill>
        <p:spPr>
          <a:xfrm>
            <a:off x="1022350" y="3785791"/>
            <a:ext cx="254000" cy="254000"/>
          </a:xfrm>
          <a:prstGeom prst="rect">
            <a:avLst/>
          </a:prstGeom>
        </p:spPr>
      </p:pic>
      <p:sp>
        <p:nvSpPr>
          <p:cNvPr id="18" name="Text 12"/>
          <p:cNvSpPr/>
          <p:nvPr/>
        </p:nvSpPr>
        <p:spPr>
          <a:xfrm>
            <a:off x="1022350" y="4103291"/>
            <a:ext cx="30914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F1EC"/>
                </a:solidFill>
                <a:latin typeface="Space Grotesk" pitchFamily="34" charset="0"/>
                <a:ea typeface="Space Grotesk" pitchFamily="34" charset="-122"/>
                <a:cs typeface="Space Grotesk" pitchFamily="34" charset="-120"/>
              </a:rPr>
              <a:t>Code review</a:t>
            </a:r>
            <a:endParaRPr lang="en-US" sz="1500" dirty="0"/>
          </a:p>
        </p:txBody>
      </p:sp>
      <p:sp>
        <p:nvSpPr>
          <p:cNvPr id="19" name="Text 13"/>
          <p:cNvSpPr/>
          <p:nvPr/>
        </p:nvSpPr>
        <p:spPr>
          <a:xfrm>
            <a:off x="1022350" y="4395391"/>
            <a:ext cx="3091408"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C9C7C0"/>
                </a:solidFill>
                <a:latin typeface="Space Grotesk" pitchFamily="34" charset="0"/>
                <a:ea typeface="Space Grotesk" pitchFamily="34" charset="-122"/>
                <a:cs typeface="Space Grotesk" pitchFamily="34" charset="-120"/>
              </a:rPr>
              <a:t>Tech lead sênior que questiona o design, não só o código.</a:t>
            </a:r>
            <a:endParaRPr lang="en-US" sz="1250" dirty="0"/>
          </a:p>
        </p:txBody>
      </p:sp>
      <p:sp>
        <p:nvSpPr>
          <p:cNvPr id="20" name="Shape 14"/>
          <p:cNvSpPr/>
          <p:nvPr/>
        </p:nvSpPr>
        <p:spPr>
          <a:xfrm>
            <a:off x="4388842" y="3579416"/>
            <a:ext cx="3414216" cy="1466850"/>
          </a:xfrm>
          <a:prstGeom prst="roundRect">
            <a:avLst>
              <a:gd name="adj" fmla="val 4978"/>
            </a:avLst>
          </a:prstGeom>
          <a:solidFill>
            <a:srgbClr val="151518"/>
          </a:solidFill>
          <a:ln w="6350">
            <a:solidFill>
              <a:srgbClr val="2A2A2C"/>
            </a:solidFill>
            <a:prstDash val="solid"/>
          </a:ln>
        </p:spPr>
      </p:sp>
      <p:pic>
        <p:nvPicPr>
          <p:cNvPr id="21" name="Image 4" descr="Tool">    </p:cNvPr>
          <p:cNvPicPr>
            <a:picLocks noChangeAspect="1"/>
          </p:cNvPicPr>
          <p:nvPr/>
        </p:nvPicPr>
        <p:blipFill>
          <a:blip r:embed="rId5"/>
          <a:srcRect l="0" r="0" t="0" b="0"/>
          <a:stretch/>
        </p:blipFill>
        <p:spPr>
          <a:xfrm>
            <a:off x="4595217" y="3785791"/>
            <a:ext cx="254000" cy="254000"/>
          </a:xfrm>
          <a:prstGeom prst="rect">
            <a:avLst/>
          </a:prstGeom>
        </p:spPr>
      </p:pic>
      <p:sp>
        <p:nvSpPr>
          <p:cNvPr id="22" name="Text 15"/>
          <p:cNvSpPr/>
          <p:nvPr/>
        </p:nvSpPr>
        <p:spPr>
          <a:xfrm>
            <a:off x="4595217" y="410329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F1EC"/>
                </a:solidFill>
                <a:latin typeface="Space Grotesk" pitchFamily="34" charset="0"/>
                <a:ea typeface="Space Grotesk" pitchFamily="34" charset="-122"/>
                <a:cs typeface="Space Grotesk" pitchFamily="34" charset="-120"/>
              </a:rPr>
              <a:t>Arquitetura</a:t>
            </a:r>
            <a:endParaRPr lang="en-US" sz="1500" dirty="0"/>
          </a:p>
        </p:txBody>
      </p:sp>
      <p:sp>
        <p:nvSpPr>
          <p:cNvPr id="23" name="Text 16"/>
          <p:cNvSpPr/>
          <p:nvPr/>
        </p:nvSpPr>
        <p:spPr>
          <a:xfrm>
            <a:off x="4595217" y="4395391"/>
            <a:ext cx="3091510"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C9C7C0"/>
                </a:solidFill>
                <a:latin typeface="Space Grotesk" pitchFamily="34" charset="0"/>
                <a:ea typeface="Space Grotesk" pitchFamily="34" charset="-122"/>
                <a:cs typeface="Space Grotesk" pitchFamily="34" charset="-120"/>
              </a:rPr>
              <a:t>O aluno propõe. A IA testa trade-offs e modos de falha.</a:t>
            </a:r>
            <a:endParaRPr lang="en-US" sz="1250" dirty="0"/>
          </a:p>
        </p:txBody>
      </p:sp>
      <p:sp>
        <p:nvSpPr>
          <p:cNvPr id="24" name="Shape 17"/>
          <p:cNvSpPr/>
          <p:nvPr/>
        </p:nvSpPr>
        <p:spPr>
          <a:xfrm>
            <a:off x="7961809" y="3579416"/>
            <a:ext cx="3414216" cy="1466850"/>
          </a:xfrm>
          <a:prstGeom prst="roundRect">
            <a:avLst>
              <a:gd name="adj" fmla="val 4978"/>
            </a:avLst>
          </a:prstGeom>
          <a:solidFill>
            <a:srgbClr val="151518"/>
          </a:solidFill>
          <a:ln w="6350">
            <a:solidFill>
              <a:srgbClr val="A78BFA"/>
            </a:solidFill>
            <a:prstDash val="solid"/>
          </a:ln>
        </p:spPr>
      </p:sp>
      <p:pic>
        <p:nvPicPr>
          <p:cNvPr id="25" name="Image 5" descr="Settings">    </p:cNvPr>
          <p:cNvPicPr>
            <a:picLocks noChangeAspect="1"/>
          </p:cNvPicPr>
          <p:nvPr/>
        </p:nvPicPr>
        <p:blipFill>
          <a:blip r:embed="rId6"/>
          <a:srcRect l="0" r="0" t="0" b="0"/>
          <a:stretch/>
        </p:blipFill>
        <p:spPr>
          <a:xfrm>
            <a:off x="8168184" y="3785791"/>
            <a:ext cx="254000" cy="254000"/>
          </a:xfrm>
          <a:prstGeom prst="rect">
            <a:avLst/>
          </a:prstGeom>
        </p:spPr>
      </p:pic>
      <p:sp>
        <p:nvSpPr>
          <p:cNvPr id="26" name="Text 18"/>
          <p:cNvSpPr/>
          <p:nvPr/>
        </p:nvSpPr>
        <p:spPr>
          <a:xfrm>
            <a:off x="8168184" y="410329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F1EC"/>
                </a:solidFill>
                <a:latin typeface="Space Grotesk" pitchFamily="34" charset="0"/>
                <a:ea typeface="Space Grotesk" pitchFamily="34" charset="-122"/>
                <a:cs typeface="Space Grotesk" pitchFamily="34" charset="-120"/>
              </a:rPr>
              <a:t>Calibração L1–L5</a:t>
            </a:r>
            <a:endParaRPr lang="en-US" sz="1500" dirty="0"/>
          </a:p>
        </p:txBody>
      </p:sp>
      <p:sp>
        <p:nvSpPr>
          <p:cNvPr id="27" name="Text 19"/>
          <p:cNvSpPr/>
          <p:nvPr/>
        </p:nvSpPr>
        <p:spPr>
          <a:xfrm>
            <a:off x="8168184" y="4395391"/>
            <a:ext cx="3091510"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C9C7C0"/>
                </a:solidFill>
                <a:latin typeface="Space Grotesk" pitchFamily="34" charset="0"/>
                <a:ea typeface="Space Grotesk" pitchFamily="34" charset="-122"/>
                <a:cs typeface="Space Grotesk" pitchFamily="34" charset="-120"/>
              </a:rPr>
              <a:t>Componentes, pistas falsas, ambiguidade e ruído de stakeholder.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8F135"/>
                </a:solidFill>
                <a:latin typeface="Space Mono" pitchFamily="34" charset="0"/>
                <a:ea typeface="Space Mono" pitchFamily="34" charset="-122"/>
                <a:cs typeface="Space Mono" pitchFamily="34" charset="-120"/>
              </a:rPr>
              <a:t>04 / DIFERENCIAL</a:t>
            </a:r>
            <a:endParaRPr lang="en-US" sz="1200" dirty="0"/>
          </a:p>
        </p:txBody>
      </p:sp>
      <p:sp>
        <p:nvSpPr>
          <p:cNvPr id="3" name="Text 1"/>
          <p:cNvSpPr/>
          <p:nvPr/>
        </p:nvSpPr>
        <p:spPr>
          <a:xfrm>
            <a:off x="812800" y="1254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2F1EC"/>
                </a:solidFill>
                <a:latin typeface="Space Grotesk" pitchFamily="34" charset="0"/>
                <a:ea typeface="Space Grotesk" pitchFamily="34" charset="-122"/>
                <a:cs typeface="Space Grotesk" pitchFamily="34" charset="-120"/>
              </a:rPr>
              <a:t>Por que não basta perguntar pra IA</a:t>
            </a:r>
            <a:endParaRPr lang="en-US" sz="3200" dirty="0"/>
          </a:p>
        </p:txBody>
      </p:sp>
      <p:sp>
        <p:nvSpPr>
          <p:cNvPr id="4" name="Text 2"/>
          <p:cNvSpPr/>
          <p:nvPr/>
        </p:nvSpPr>
        <p:spPr>
          <a:xfrm>
            <a:off x="812800" y="1950641"/>
            <a:ext cx="10203180"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C9C7C0"/>
                </a:solidFill>
                <a:latin typeface="Space Grotesk" pitchFamily="34" charset="0"/>
                <a:ea typeface="Space Grotesk" pitchFamily="34" charset="-122"/>
                <a:cs typeface="Space Grotesk" pitchFamily="34" charset="-120"/>
              </a:rPr>
              <a:t>Nosso concorrente real não é a Udemy — é o ChatGPT aberto em outra aba. Os 6 entrevistados já o usam quando travam. E nenhum se sente preparado para produção.</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2768402"/>
          <a:ext cx="10566400" cy="2155627"/>
        </p:xfrm>
        <a:graphic>
          <a:graphicData uri="http://schemas.openxmlformats.org/drawingml/2006/table">
            <a:tbl>
              <a:tblPr/>
              <a:tblGrid>
                <a:gridCol w="2113280"/>
                <a:gridCol w="4015232"/>
                <a:gridCol w="4437888"/>
              </a:tblGrid>
              <a:tr h="359271">
                <a:tc>
                  <a:txBody>
                    <a:bodyPr/>
                    <a:lstStyle/>
                    <a:p>
                      <a:pPr indent="0" marL="0">
                        <a:lnSpc>
                          <a:spcPts val="1820"/>
                        </a:lnSpc>
                        <a:buNone/>
                      </a:pPr>
                      <a:r>
                        <a:rPr lang="en-US" sz="1300" b="1" dirty="0">
                          <a:solidFill>
                            <a:srgbClr val="8A8880"/>
                          </a:solidFill>
                          <a:latin typeface="Space Grotesk" pitchFamily="34" charset="0"/>
                          <a:ea typeface="Space Grotesk" pitchFamily="34" charset="-122"/>
                          <a:cs typeface="Space Grotesk" pitchFamily="34" charset="-120"/>
                        </a:rPr>
                        <a:t> </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363634"/>
                      </a:solidFill>
                      <a:prstDash val="solid"/>
                      <a:round/>
                      <a:headEnd type="none" w="med" len="med"/>
                      <a:tailEnd type="none" w="med" len="med"/>
                    </a:lnL>
                    <a:lnR w="12700" cap="flat" cmpd="sng" algn="ctr">
                      <a:solidFill>
                        <a:srgbClr val="363634"/>
                      </a:solidFill>
                      <a:prstDash val="solid"/>
                      <a:round/>
                      <a:headEnd type="none" w="med" len="med"/>
                      <a:tailEnd type="none" w="med" len="med"/>
                    </a:lnR>
                    <a:lnT w="12700" cap="flat" cmpd="sng" algn="ctr">
                      <a:solidFill>
                        <a:srgbClr val="363634"/>
                      </a:solidFill>
                      <a:prstDash val="solid"/>
                      <a:round/>
                      <a:headEnd type="none" w="med" len="med"/>
                      <a:tailEnd type="none" w="med" len="med"/>
                    </a:lnT>
                    <a:lnB w="12700" cap="flat" cmpd="sng" algn="ctr">
                      <a:solidFill>
                        <a:srgbClr val="363634"/>
                      </a:solidFill>
                      <a:prstDash val="solid"/>
                      <a:round/>
                      <a:headEnd type="none" w="med" len="med"/>
                      <a:tailEnd type="none" w="med" len="med"/>
                    </a:lnB>
                    <a:solidFill>
                      <a:srgbClr val="151518"/>
                    </a:solidFill>
                  </a:tcPr>
                </a:tc>
                <a:tc>
                  <a:txBody>
                    <a:bodyPr/>
                    <a:lstStyle/>
                    <a:p>
                      <a:pPr indent="0" marL="0">
                        <a:lnSpc>
                          <a:spcPts val="1820"/>
                        </a:lnSpc>
                        <a:buNone/>
                      </a:pPr>
                      <a:r>
                        <a:rPr lang="en-US" sz="1300" b="1" dirty="0">
                          <a:solidFill>
                            <a:srgbClr val="B08A8A"/>
                          </a:solidFill>
                          <a:latin typeface="Space Grotesk" pitchFamily="34" charset="0"/>
                          <a:ea typeface="Space Grotesk" pitchFamily="34" charset="-122"/>
                          <a:cs typeface="Space Grotesk" pitchFamily="34" charset="-120"/>
                        </a:rPr>
                        <a:t>IA genérica</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363634"/>
                      </a:solidFill>
                      <a:prstDash val="solid"/>
                      <a:round/>
                      <a:headEnd type="none" w="med" len="med"/>
                      <a:tailEnd type="none" w="med" len="med"/>
                    </a:lnL>
                    <a:lnR w="12700" cap="flat" cmpd="sng" algn="ctr">
                      <a:solidFill>
                        <a:srgbClr val="363634"/>
                      </a:solidFill>
                      <a:prstDash val="solid"/>
                      <a:round/>
                      <a:headEnd type="none" w="med" len="med"/>
                      <a:tailEnd type="none" w="med" len="med"/>
                    </a:lnR>
                    <a:lnT w="12700" cap="flat" cmpd="sng" algn="ctr">
                      <a:solidFill>
                        <a:srgbClr val="363634"/>
                      </a:solidFill>
                      <a:prstDash val="solid"/>
                      <a:round/>
                      <a:headEnd type="none" w="med" len="med"/>
                      <a:tailEnd type="none" w="med" len="med"/>
                    </a:lnT>
                    <a:lnB w="12700" cap="flat" cmpd="sng" algn="ctr">
                      <a:solidFill>
                        <a:srgbClr val="363634"/>
                      </a:solidFill>
                      <a:prstDash val="solid"/>
                      <a:round/>
                      <a:headEnd type="none" w="med" len="med"/>
                      <a:tailEnd type="none" w="med" len="med"/>
                    </a:lnB>
                    <a:solidFill>
                      <a:srgbClr val="151518"/>
                    </a:solidFill>
                  </a:tcPr>
                </a:tc>
                <a:tc>
                  <a:txBody>
                    <a:bodyPr/>
                    <a:lstStyle/>
                    <a:p>
                      <a:pPr indent="0" marL="0">
                        <a:lnSpc>
                          <a:spcPts val="1820"/>
                        </a:lnSpc>
                        <a:buNone/>
                      </a:pPr>
                      <a:r>
                        <a:rPr lang="en-US" sz="1300" b="1" dirty="0">
                          <a:solidFill>
                            <a:srgbClr val="C8F135"/>
                          </a:solidFill>
                          <a:latin typeface="Space Grotesk" pitchFamily="34" charset="0"/>
                          <a:ea typeface="Space Grotesk" pitchFamily="34" charset="-122"/>
                          <a:cs typeface="Space Grotesk" pitchFamily="34" charset="-120"/>
                        </a:rPr>
                        <a:t>SeniorLab</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363634"/>
                      </a:solidFill>
                      <a:prstDash val="solid"/>
                      <a:round/>
                      <a:headEnd type="none" w="med" len="med"/>
                      <a:tailEnd type="none" w="med" len="med"/>
                    </a:lnL>
                    <a:lnR w="12700" cap="flat" cmpd="sng" algn="ctr">
                      <a:solidFill>
                        <a:srgbClr val="363634"/>
                      </a:solidFill>
                      <a:prstDash val="solid"/>
                      <a:round/>
                      <a:headEnd type="none" w="med" len="med"/>
                      <a:tailEnd type="none" w="med" len="med"/>
                    </a:lnR>
                    <a:lnT w="12700" cap="flat" cmpd="sng" algn="ctr">
                      <a:solidFill>
                        <a:srgbClr val="363634"/>
                      </a:solidFill>
                      <a:prstDash val="solid"/>
                      <a:round/>
                      <a:headEnd type="none" w="med" len="med"/>
                      <a:tailEnd type="none" w="med" len="med"/>
                    </a:lnT>
                    <a:lnB w="12700" cap="flat" cmpd="sng" algn="ctr">
                      <a:solidFill>
                        <a:srgbClr val="363634"/>
                      </a:solidFill>
                      <a:prstDash val="solid"/>
                      <a:round/>
                      <a:headEnd type="none" w="med" len="med"/>
                      <a:tailEnd type="none" w="med" len="med"/>
                    </a:lnB>
                    <a:solidFill>
                      <a:srgbClr val="151518"/>
                    </a:solidFill>
                  </a:tcPr>
                </a:tc>
              </a:tr>
              <a:tr h="359271">
                <a:tc>
                  <a:txBody>
                    <a:bodyPr/>
                    <a:lstStyle/>
                    <a:p>
                      <a:pPr indent="0" marL="0">
                        <a:lnSpc>
                          <a:spcPts val="1820"/>
                        </a:lnSpc>
                        <a:buNone/>
                      </a:pPr>
                      <a:r>
                        <a:rPr lang="en-US" sz="1300" dirty="0">
                          <a:solidFill>
                            <a:srgbClr val="F2F1EC"/>
                          </a:solidFill>
                          <a:latin typeface="Space Grotesk" pitchFamily="34" charset="0"/>
                          <a:ea typeface="Space Grotesk" pitchFamily="34" charset="-122"/>
                          <a:cs typeface="Space Grotesk" pitchFamily="34" charset="-120"/>
                        </a:rPr>
                        <a:t>Cenário</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363634"/>
                      </a:solidFill>
                      <a:prstDash val="solid"/>
                      <a:round/>
                      <a:headEnd type="none" w="med" len="med"/>
                      <a:tailEnd type="none" w="med" len="med"/>
                    </a:lnL>
                    <a:lnR w="12700" cap="flat" cmpd="sng" algn="ctr">
                      <a:solidFill>
                        <a:srgbClr val="363634"/>
                      </a:solidFill>
                      <a:prstDash val="solid"/>
                      <a:round/>
                      <a:headEnd type="none" w="med" len="med"/>
                      <a:tailEnd type="none" w="med" len="med"/>
                    </a:lnR>
                    <a:lnT w="12700" cap="flat" cmpd="sng" algn="ctr">
                      <a:solidFill>
                        <a:srgbClr val="363634"/>
                      </a:solidFill>
                      <a:prstDash val="solid"/>
                      <a:round/>
                      <a:headEnd type="none" w="med" len="med"/>
                      <a:tailEnd type="none" w="med" len="med"/>
                    </a:lnT>
                    <a:lnB w="12700" cap="flat" cmpd="sng" algn="ctr">
                      <a:solidFill>
                        <a:srgbClr val="363634"/>
                      </a:solidFill>
                      <a:prstDash val="solid"/>
                      <a:round/>
                      <a:headEnd type="none" w="med" len="med"/>
                      <a:tailEnd type="none" w="med" len="med"/>
                    </a:lnB>
                  </a:tcPr>
                </a:tc>
                <a:tc>
                  <a:txBody>
                    <a:bodyPr/>
                    <a:lstStyle/>
                    <a:p>
                      <a:pPr indent="0" marL="0">
                        <a:lnSpc>
                          <a:spcPts val="1820"/>
                        </a:lnSpc>
                        <a:buNone/>
                      </a:pPr>
                      <a:r>
                        <a:rPr lang="en-US" sz="1300" dirty="0">
                          <a:solidFill>
                            <a:srgbClr val="96938C"/>
                          </a:solidFill>
                          <a:latin typeface="Space Grotesk" pitchFamily="34" charset="0"/>
                          <a:ea typeface="Space Grotesk" pitchFamily="34" charset="-122"/>
                          <a:cs typeface="Space Grotesk" pitchFamily="34" charset="-120"/>
                        </a:rPr>
                        <a:t>Montado pelo próprio aprendiz</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363634"/>
                      </a:solidFill>
                      <a:prstDash val="solid"/>
                      <a:round/>
                      <a:headEnd type="none" w="med" len="med"/>
                      <a:tailEnd type="none" w="med" len="med"/>
                    </a:lnL>
                    <a:lnR w="12700" cap="flat" cmpd="sng" algn="ctr">
                      <a:solidFill>
                        <a:srgbClr val="363634"/>
                      </a:solidFill>
                      <a:prstDash val="solid"/>
                      <a:round/>
                      <a:headEnd type="none" w="med" len="med"/>
                      <a:tailEnd type="none" w="med" len="med"/>
                    </a:lnR>
                    <a:lnT w="12700" cap="flat" cmpd="sng" algn="ctr">
                      <a:solidFill>
                        <a:srgbClr val="363634"/>
                      </a:solidFill>
                      <a:prstDash val="solid"/>
                      <a:round/>
                      <a:headEnd type="none" w="med" len="med"/>
                      <a:tailEnd type="none" w="med" len="med"/>
                    </a:lnT>
                    <a:lnB w="12700" cap="flat" cmpd="sng" algn="ctr">
                      <a:solidFill>
                        <a:srgbClr val="363634"/>
                      </a:solidFill>
                      <a:prstDash val="solid"/>
                      <a:round/>
                      <a:headEnd type="none" w="med" len="med"/>
                      <a:tailEnd type="none" w="med" len="med"/>
                    </a:lnB>
                  </a:tcPr>
                </a:tc>
                <a:tc>
                  <a:txBody>
                    <a:bodyPr/>
                    <a:lstStyle/>
                    <a:p>
                      <a:pPr indent="0" marL="0">
                        <a:lnSpc>
                          <a:spcPts val="1820"/>
                        </a:lnSpc>
                        <a:buNone/>
                      </a:pPr>
                      <a:r>
                        <a:rPr lang="en-US" sz="1300" dirty="0">
                          <a:solidFill>
                            <a:srgbClr val="C9C7C0"/>
                          </a:solidFill>
                          <a:latin typeface="Space Grotesk" pitchFamily="34" charset="0"/>
                          <a:ea typeface="Space Grotesk" pitchFamily="34" charset="-122"/>
                          <a:cs typeface="Space Grotesk" pitchFamily="34" charset="-120"/>
                        </a:rPr>
                        <a:t>Curado, com telemetria parcial e pistas falsas</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363634"/>
                      </a:solidFill>
                      <a:prstDash val="solid"/>
                      <a:round/>
                      <a:headEnd type="none" w="med" len="med"/>
                      <a:tailEnd type="none" w="med" len="med"/>
                    </a:lnL>
                    <a:lnR w="12700" cap="flat" cmpd="sng" algn="ctr">
                      <a:solidFill>
                        <a:srgbClr val="363634"/>
                      </a:solidFill>
                      <a:prstDash val="solid"/>
                      <a:round/>
                      <a:headEnd type="none" w="med" len="med"/>
                      <a:tailEnd type="none" w="med" len="med"/>
                    </a:lnR>
                    <a:lnT w="12700" cap="flat" cmpd="sng" algn="ctr">
                      <a:solidFill>
                        <a:srgbClr val="363634"/>
                      </a:solidFill>
                      <a:prstDash val="solid"/>
                      <a:round/>
                      <a:headEnd type="none" w="med" len="med"/>
                      <a:tailEnd type="none" w="med" len="med"/>
                    </a:lnT>
                    <a:lnB w="12700" cap="flat" cmpd="sng" algn="ctr">
                      <a:solidFill>
                        <a:srgbClr val="363634"/>
                      </a:solidFill>
                      <a:prstDash val="solid"/>
                      <a:round/>
                      <a:headEnd type="none" w="med" len="med"/>
                      <a:tailEnd type="none" w="med" len="med"/>
                    </a:lnB>
                  </a:tcPr>
                </a:tc>
              </a:tr>
              <a:tr h="359271">
                <a:tc>
                  <a:txBody>
                    <a:bodyPr/>
                    <a:lstStyle/>
                    <a:p>
                      <a:pPr indent="0" marL="0">
                        <a:lnSpc>
                          <a:spcPts val="1820"/>
                        </a:lnSpc>
                        <a:buNone/>
                      </a:pPr>
                      <a:r>
                        <a:rPr lang="en-US" sz="1300" dirty="0">
                          <a:solidFill>
                            <a:srgbClr val="F2F1EC"/>
                          </a:solidFill>
                          <a:latin typeface="Space Grotesk" pitchFamily="34" charset="0"/>
                          <a:ea typeface="Space Grotesk" pitchFamily="34" charset="-122"/>
                          <a:cs typeface="Space Grotesk" pitchFamily="34" charset="-120"/>
                        </a:rPr>
                        <a:t>Postura</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363634"/>
                      </a:solidFill>
                      <a:prstDash val="solid"/>
                      <a:round/>
                      <a:headEnd type="none" w="med" len="med"/>
                      <a:tailEnd type="none" w="med" len="med"/>
                    </a:lnL>
                    <a:lnR w="12700" cap="flat" cmpd="sng" algn="ctr">
                      <a:solidFill>
                        <a:srgbClr val="363634"/>
                      </a:solidFill>
                      <a:prstDash val="solid"/>
                      <a:round/>
                      <a:headEnd type="none" w="med" len="med"/>
                      <a:tailEnd type="none" w="med" len="med"/>
                    </a:lnR>
                    <a:lnT w="12700" cap="flat" cmpd="sng" algn="ctr">
                      <a:solidFill>
                        <a:srgbClr val="363634"/>
                      </a:solidFill>
                      <a:prstDash val="solid"/>
                      <a:round/>
                      <a:headEnd type="none" w="med" len="med"/>
                      <a:tailEnd type="none" w="med" len="med"/>
                    </a:lnT>
                    <a:lnB w="12700" cap="flat" cmpd="sng" algn="ctr">
                      <a:solidFill>
                        <a:srgbClr val="363634"/>
                      </a:solidFill>
                      <a:prstDash val="solid"/>
                      <a:round/>
                      <a:headEnd type="none" w="med" len="med"/>
                      <a:tailEnd type="none" w="med" len="med"/>
                    </a:lnB>
                  </a:tcPr>
                </a:tc>
                <a:tc>
                  <a:txBody>
                    <a:bodyPr/>
                    <a:lstStyle/>
                    <a:p>
                      <a:pPr indent="0" marL="0">
                        <a:lnSpc>
                          <a:spcPts val="1820"/>
                        </a:lnSpc>
                        <a:buNone/>
                      </a:pPr>
                      <a:r>
                        <a:rPr lang="en-US" sz="1300" dirty="0">
                          <a:solidFill>
                            <a:srgbClr val="96938C"/>
                          </a:solidFill>
                          <a:latin typeface="Space Grotesk" pitchFamily="34" charset="0"/>
                          <a:ea typeface="Space Grotesk" pitchFamily="34" charset="-122"/>
                          <a:cs typeface="Space Grotesk" pitchFamily="34" charset="-120"/>
                        </a:rPr>
                        <a:t>Cooperar: cede quando você insiste</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363634"/>
                      </a:solidFill>
                      <a:prstDash val="solid"/>
                      <a:round/>
                      <a:headEnd type="none" w="med" len="med"/>
                      <a:tailEnd type="none" w="med" len="med"/>
                    </a:lnL>
                    <a:lnR w="12700" cap="flat" cmpd="sng" algn="ctr">
                      <a:solidFill>
                        <a:srgbClr val="363634"/>
                      </a:solidFill>
                      <a:prstDash val="solid"/>
                      <a:round/>
                      <a:headEnd type="none" w="med" len="med"/>
                      <a:tailEnd type="none" w="med" len="med"/>
                    </a:lnR>
                    <a:lnT w="12700" cap="flat" cmpd="sng" algn="ctr">
                      <a:solidFill>
                        <a:srgbClr val="363634"/>
                      </a:solidFill>
                      <a:prstDash val="solid"/>
                      <a:round/>
                      <a:headEnd type="none" w="med" len="med"/>
                      <a:tailEnd type="none" w="med" len="med"/>
                    </a:lnT>
                    <a:lnB w="12700" cap="flat" cmpd="sng" algn="ctr">
                      <a:solidFill>
                        <a:srgbClr val="363634"/>
                      </a:solidFill>
                      <a:prstDash val="solid"/>
                      <a:round/>
                      <a:headEnd type="none" w="med" len="med"/>
                      <a:tailEnd type="none" w="med" len="med"/>
                    </a:lnB>
                  </a:tcPr>
                </a:tc>
                <a:tc>
                  <a:txBody>
                    <a:bodyPr/>
                    <a:lstStyle/>
                    <a:p>
                      <a:pPr indent="0" marL="0">
                        <a:lnSpc>
                          <a:spcPts val="1820"/>
                        </a:lnSpc>
                        <a:buNone/>
                      </a:pPr>
                      <a:r>
                        <a:rPr lang="en-US" sz="1300" dirty="0">
                          <a:solidFill>
                            <a:srgbClr val="C9C7C0"/>
                          </a:solidFill>
                          <a:latin typeface="Space Grotesk" pitchFamily="34" charset="0"/>
                          <a:ea typeface="Space Grotesk" pitchFamily="34" charset="-122"/>
                          <a:cs typeface="Space Grotesk" pitchFamily="34" charset="-120"/>
                        </a:rPr>
                        <a:t>Resistir: só revela sob a pergunta correta</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363634"/>
                      </a:solidFill>
                      <a:prstDash val="solid"/>
                      <a:round/>
                      <a:headEnd type="none" w="med" len="med"/>
                      <a:tailEnd type="none" w="med" len="med"/>
                    </a:lnL>
                    <a:lnR w="12700" cap="flat" cmpd="sng" algn="ctr">
                      <a:solidFill>
                        <a:srgbClr val="363634"/>
                      </a:solidFill>
                      <a:prstDash val="solid"/>
                      <a:round/>
                      <a:headEnd type="none" w="med" len="med"/>
                      <a:tailEnd type="none" w="med" len="med"/>
                    </a:lnR>
                    <a:lnT w="12700" cap="flat" cmpd="sng" algn="ctr">
                      <a:solidFill>
                        <a:srgbClr val="363634"/>
                      </a:solidFill>
                      <a:prstDash val="solid"/>
                      <a:round/>
                      <a:headEnd type="none" w="med" len="med"/>
                      <a:tailEnd type="none" w="med" len="med"/>
                    </a:lnT>
                    <a:lnB w="12700" cap="flat" cmpd="sng" algn="ctr">
                      <a:solidFill>
                        <a:srgbClr val="363634"/>
                      </a:solidFill>
                      <a:prstDash val="solid"/>
                      <a:round/>
                      <a:headEnd type="none" w="med" len="med"/>
                      <a:tailEnd type="none" w="med" len="med"/>
                    </a:lnB>
                  </a:tcPr>
                </a:tc>
              </a:tr>
              <a:tr h="359271">
                <a:tc>
                  <a:txBody>
                    <a:bodyPr/>
                    <a:lstStyle/>
                    <a:p>
                      <a:pPr indent="0" marL="0">
                        <a:lnSpc>
                          <a:spcPts val="1820"/>
                        </a:lnSpc>
                        <a:buNone/>
                      </a:pPr>
                      <a:r>
                        <a:rPr lang="en-US" sz="1300" dirty="0">
                          <a:solidFill>
                            <a:srgbClr val="F2F1EC"/>
                          </a:solidFill>
                          <a:latin typeface="Space Grotesk" pitchFamily="34" charset="0"/>
                          <a:ea typeface="Space Grotesk" pitchFamily="34" charset="-122"/>
                          <a:cs typeface="Space Grotesk" pitchFamily="34" charset="-120"/>
                        </a:rPr>
                        <a:t>Avaliação</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363634"/>
                      </a:solidFill>
                      <a:prstDash val="solid"/>
                      <a:round/>
                      <a:headEnd type="none" w="med" len="med"/>
                      <a:tailEnd type="none" w="med" len="med"/>
                    </a:lnL>
                    <a:lnR w="12700" cap="flat" cmpd="sng" algn="ctr">
                      <a:solidFill>
                        <a:srgbClr val="363634"/>
                      </a:solidFill>
                      <a:prstDash val="solid"/>
                      <a:round/>
                      <a:headEnd type="none" w="med" len="med"/>
                      <a:tailEnd type="none" w="med" len="med"/>
                    </a:lnR>
                    <a:lnT w="12700" cap="flat" cmpd="sng" algn="ctr">
                      <a:solidFill>
                        <a:srgbClr val="363634"/>
                      </a:solidFill>
                      <a:prstDash val="solid"/>
                      <a:round/>
                      <a:headEnd type="none" w="med" len="med"/>
                      <a:tailEnd type="none" w="med" len="med"/>
                    </a:lnT>
                    <a:lnB w="12700" cap="flat" cmpd="sng" algn="ctr">
                      <a:solidFill>
                        <a:srgbClr val="363634"/>
                      </a:solidFill>
                      <a:prstDash val="solid"/>
                      <a:round/>
                      <a:headEnd type="none" w="med" len="med"/>
                      <a:tailEnd type="none" w="med" len="med"/>
                    </a:lnB>
                  </a:tcPr>
                </a:tc>
                <a:tc>
                  <a:txBody>
                    <a:bodyPr/>
                    <a:lstStyle/>
                    <a:p>
                      <a:pPr indent="0" marL="0">
                        <a:lnSpc>
                          <a:spcPts val="1820"/>
                        </a:lnSpc>
                        <a:buNone/>
                      </a:pPr>
                      <a:r>
                        <a:rPr lang="en-US" sz="1300" dirty="0">
                          <a:solidFill>
                            <a:srgbClr val="96938C"/>
                          </a:solidFill>
                          <a:latin typeface="Space Grotesk" pitchFamily="34" charset="0"/>
                          <a:ea typeface="Space Grotesk" pitchFamily="34" charset="-122"/>
                          <a:cs typeface="Space Grotesk" pitchFamily="34" charset="-120"/>
                        </a:rPr>
                        <a:t>O aprendiz define o critério de acerto</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363634"/>
                      </a:solidFill>
                      <a:prstDash val="solid"/>
                      <a:round/>
                      <a:headEnd type="none" w="med" len="med"/>
                      <a:tailEnd type="none" w="med" len="med"/>
                    </a:lnL>
                    <a:lnR w="12700" cap="flat" cmpd="sng" algn="ctr">
                      <a:solidFill>
                        <a:srgbClr val="363634"/>
                      </a:solidFill>
                      <a:prstDash val="solid"/>
                      <a:round/>
                      <a:headEnd type="none" w="med" len="med"/>
                      <a:tailEnd type="none" w="med" len="med"/>
                    </a:lnR>
                    <a:lnT w="12700" cap="flat" cmpd="sng" algn="ctr">
                      <a:solidFill>
                        <a:srgbClr val="363634"/>
                      </a:solidFill>
                      <a:prstDash val="solid"/>
                      <a:round/>
                      <a:headEnd type="none" w="med" len="med"/>
                      <a:tailEnd type="none" w="med" len="med"/>
                    </a:lnT>
                    <a:lnB w="12700" cap="flat" cmpd="sng" algn="ctr">
                      <a:solidFill>
                        <a:srgbClr val="363634"/>
                      </a:solidFill>
                      <a:prstDash val="solid"/>
                      <a:round/>
                      <a:headEnd type="none" w="med" len="med"/>
                      <a:tailEnd type="none" w="med" len="med"/>
                    </a:lnB>
                  </a:tcPr>
                </a:tc>
                <a:tc>
                  <a:txBody>
                    <a:bodyPr/>
                    <a:lstStyle/>
                    <a:p>
                      <a:pPr indent="0" marL="0">
                        <a:lnSpc>
                          <a:spcPts val="1820"/>
                        </a:lnSpc>
                        <a:buNone/>
                      </a:pPr>
                      <a:r>
                        <a:rPr lang="en-US" sz="1300" dirty="0">
                          <a:solidFill>
                            <a:srgbClr val="C9C7C0"/>
                          </a:solidFill>
                          <a:latin typeface="Space Grotesk" pitchFamily="34" charset="0"/>
                          <a:ea typeface="Space Grotesk" pitchFamily="34" charset="-122"/>
                          <a:cs typeface="Space Grotesk" pitchFamily="34" charset="-120"/>
                        </a:rPr>
                        <a:t>Causa raiz definida pelo servidor, auditável</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363634"/>
                      </a:solidFill>
                      <a:prstDash val="solid"/>
                      <a:round/>
                      <a:headEnd type="none" w="med" len="med"/>
                      <a:tailEnd type="none" w="med" len="med"/>
                    </a:lnL>
                    <a:lnR w="12700" cap="flat" cmpd="sng" algn="ctr">
                      <a:solidFill>
                        <a:srgbClr val="363634"/>
                      </a:solidFill>
                      <a:prstDash val="solid"/>
                      <a:round/>
                      <a:headEnd type="none" w="med" len="med"/>
                      <a:tailEnd type="none" w="med" len="med"/>
                    </a:lnR>
                    <a:lnT w="12700" cap="flat" cmpd="sng" algn="ctr">
                      <a:solidFill>
                        <a:srgbClr val="363634"/>
                      </a:solidFill>
                      <a:prstDash val="solid"/>
                      <a:round/>
                      <a:headEnd type="none" w="med" len="med"/>
                      <a:tailEnd type="none" w="med" len="med"/>
                    </a:lnT>
                    <a:lnB w="12700" cap="flat" cmpd="sng" algn="ctr">
                      <a:solidFill>
                        <a:srgbClr val="363634"/>
                      </a:solidFill>
                      <a:prstDash val="solid"/>
                      <a:round/>
                      <a:headEnd type="none" w="med" len="med"/>
                      <a:tailEnd type="none" w="med" len="med"/>
                    </a:lnB>
                  </a:tcPr>
                </a:tc>
              </a:tr>
              <a:tr h="359271">
                <a:tc>
                  <a:txBody>
                    <a:bodyPr/>
                    <a:lstStyle/>
                    <a:p>
                      <a:pPr indent="0" marL="0">
                        <a:lnSpc>
                          <a:spcPts val="1820"/>
                        </a:lnSpc>
                        <a:buNone/>
                      </a:pPr>
                      <a:r>
                        <a:rPr lang="en-US" sz="1300" dirty="0">
                          <a:solidFill>
                            <a:srgbClr val="F2F1EC"/>
                          </a:solidFill>
                          <a:latin typeface="Space Grotesk" pitchFamily="34" charset="0"/>
                          <a:ea typeface="Space Grotesk" pitchFamily="34" charset="-122"/>
                          <a:cs typeface="Space Grotesk" pitchFamily="34" charset="-120"/>
                        </a:rPr>
                        <a:t>Progressão</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363634"/>
                      </a:solidFill>
                      <a:prstDash val="solid"/>
                      <a:round/>
                      <a:headEnd type="none" w="med" len="med"/>
                      <a:tailEnd type="none" w="med" len="med"/>
                    </a:lnL>
                    <a:lnR w="12700" cap="flat" cmpd="sng" algn="ctr">
                      <a:solidFill>
                        <a:srgbClr val="363634"/>
                      </a:solidFill>
                      <a:prstDash val="solid"/>
                      <a:round/>
                      <a:headEnd type="none" w="med" len="med"/>
                      <a:tailEnd type="none" w="med" len="med"/>
                    </a:lnR>
                    <a:lnT w="12700" cap="flat" cmpd="sng" algn="ctr">
                      <a:solidFill>
                        <a:srgbClr val="363634"/>
                      </a:solidFill>
                      <a:prstDash val="solid"/>
                      <a:round/>
                      <a:headEnd type="none" w="med" len="med"/>
                      <a:tailEnd type="none" w="med" len="med"/>
                    </a:lnT>
                    <a:lnB w="12700" cap="flat" cmpd="sng" algn="ctr">
                      <a:solidFill>
                        <a:srgbClr val="363634"/>
                      </a:solidFill>
                      <a:prstDash val="solid"/>
                      <a:round/>
                      <a:headEnd type="none" w="med" len="med"/>
                      <a:tailEnd type="none" w="med" len="med"/>
                    </a:lnB>
                  </a:tcPr>
                </a:tc>
                <a:tc>
                  <a:txBody>
                    <a:bodyPr/>
                    <a:lstStyle/>
                    <a:p>
                      <a:pPr indent="0" marL="0">
                        <a:lnSpc>
                          <a:spcPts val="1820"/>
                        </a:lnSpc>
                        <a:buNone/>
                      </a:pPr>
                      <a:r>
                        <a:rPr lang="en-US" sz="1300" dirty="0">
                          <a:solidFill>
                            <a:srgbClr val="96938C"/>
                          </a:solidFill>
                          <a:latin typeface="Space Grotesk" pitchFamily="34" charset="0"/>
                          <a:ea typeface="Space Grotesk" pitchFamily="34" charset="-122"/>
                          <a:cs typeface="Space Grotesk" pitchFamily="34" charset="-120"/>
                        </a:rPr>
                        <a:t>Não existe</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363634"/>
                      </a:solidFill>
                      <a:prstDash val="solid"/>
                      <a:round/>
                      <a:headEnd type="none" w="med" len="med"/>
                      <a:tailEnd type="none" w="med" len="med"/>
                    </a:lnL>
                    <a:lnR w="12700" cap="flat" cmpd="sng" algn="ctr">
                      <a:solidFill>
                        <a:srgbClr val="363634"/>
                      </a:solidFill>
                      <a:prstDash val="solid"/>
                      <a:round/>
                      <a:headEnd type="none" w="med" len="med"/>
                      <a:tailEnd type="none" w="med" len="med"/>
                    </a:lnR>
                    <a:lnT w="12700" cap="flat" cmpd="sng" algn="ctr">
                      <a:solidFill>
                        <a:srgbClr val="363634"/>
                      </a:solidFill>
                      <a:prstDash val="solid"/>
                      <a:round/>
                      <a:headEnd type="none" w="med" len="med"/>
                      <a:tailEnd type="none" w="med" len="med"/>
                    </a:lnT>
                    <a:lnB w="12700" cap="flat" cmpd="sng" algn="ctr">
                      <a:solidFill>
                        <a:srgbClr val="363634"/>
                      </a:solidFill>
                      <a:prstDash val="solid"/>
                      <a:round/>
                      <a:headEnd type="none" w="med" len="med"/>
                      <a:tailEnd type="none" w="med" len="med"/>
                    </a:lnB>
                  </a:tcPr>
                </a:tc>
                <a:tc>
                  <a:txBody>
                    <a:bodyPr/>
                    <a:lstStyle/>
                    <a:p>
                      <a:pPr indent="0" marL="0">
                        <a:lnSpc>
                          <a:spcPts val="1820"/>
                        </a:lnSpc>
                        <a:buNone/>
                      </a:pPr>
                      <a:r>
                        <a:rPr lang="en-US" sz="1300" dirty="0">
                          <a:solidFill>
                            <a:srgbClr val="C9C7C0"/>
                          </a:solidFill>
                          <a:latin typeface="Space Grotesk" pitchFamily="34" charset="0"/>
                          <a:ea typeface="Space Grotesk" pitchFamily="34" charset="-122"/>
                          <a:cs typeface="Space Grotesk" pitchFamily="34" charset="-120"/>
                        </a:rPr>
                        <a:t>Gate de domínio aplicado no backend</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363634"/>
                      </a:solidFill>
                      <a:prstDash val="solid"/>
                      <a:round/>
                      <a:headEnd type="none" w="med" len="med"/>
                      <a:tailEnd type="none" w="med" len="med"/>
                    </a:lnL>
                    <a:lnR w="12700" cap="flat" cmpd="sng" algn="ctr">
                      <a:solidFill>
                        <a:srgbClr val="363634"/>
                      </a:solidFill>
                      <a:prstDash val="solid"/>
                      <a:round/>
                      <a:headEnd type="none" w="med" len="med"/>
                      <a:tailEnd type="none" w="med" len="med"/>
                    </a:lnR>
                    <a:lnT w="12700" cap="flat" cmpd="sng" algn="ctr">
                      <a:solidFill>
                        <a:srgbClr val="363634"/>
                      </a:solidFill>
                      <a:prstDash val="solid"/>
                      <a:round/>
                      <a:headEnd type="none" w="med" len="med"/>
                      <a:tailEnd type="none" w="med" len="med"/>
                    </a:lnT>
                    <a:lnB w="12700" cap="flat" cmpd="sng" algn="ctr">
                      <a:solidFill>
                        <a:srgbClr val="363634"/>
                      </a:solidFill>
                      <a:prstDash val="solid"/>
                      <a:round/>
                      <a:headEnd type="none" w="med" len="med"/>
                      <a:tailEnd type="none" w="med" len="med"/>
                    </a:lnB>
                  </a:tcPr>
                </a:tc>
              </a:tr>
              <a:tr h="359271">
                <a:tc>
                  <a:txBody>
                    <a:bodyPr/>
                    <a:lstStyle/>
                    <a:p>
                      <a:pPr indent="0" marL="0">
                        <a:lnSpc>
                          <a:spcPts val="1820"/>
                        </a:lnSpc>
                        <a:buNone/>
                      </a:pPr>
                      <a:r>
                        <a:rPr lang="en-US" sz="1300" dirty="0">
                          <a:solidFill>
                            <a:srgbClr val="F2F1EC"/>
                          </a:solidFill>
                          <a:latin typeface="Space Grotesk" pitchFamily="34" charset="0"/>
                          <a:ea typeface="Space Grotesk" pitchFamily="34" charset="-122"/>
                          <a:cs typeface="Space Grotesk" pitchFamily="34" charset="-120"/>
                        </a:rPr>
                        <a:t>Continuidade</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363634"/>
                      </a:solidFill>
                      <a:prstDash val="solid"/>
                      <a:round/>
                      <a:headEnd type="none" w="med" len="med"/>
                      <a:tailEnd type="none" w="med" len="med"/>
                    </a:lnL>
                    <a:lnR w="12700" cap="flat" cmpd="sng" algn="ctr">
                      <a:solidFill>
                        <a:srgbClr val="363634"/>
                      </a:solidFill>
                      <a:prstDash val="solid"/>
                      <a:round/>
                      <a:headEnd type="none" w="med" len="med"/>
                      <a:tailEnd type="none" w="med" len="med"/>
                    </a:lnR>
                    <a:lnT w="12700" cap="flat" cmpd="sng" algn="ctr">
                      <a:solidFill>
                        <a:srgbClr val="363634"/>
                      </a:solidFill>
                      <a:prstDash val="solid"/>
                      <a:round/>
                      <a:headEnd type="none" w="med" len="med"/>
                      <a:tailEnd type="none" w="med" len="med"/>
                    </a:lnT>
                    <a:lnB w="12700" cap="flat" cmpd="sng" algn="ctr">
                      <a:solidFill>
                        <a:srgbClr val="363634"/>
                      </a:solidFill>
                      <a:prstDash val="solid"/>
                      <a:round/>
                      <a:headEnd type="none" w="med" len="med"/>
                      <a:tailEnd type="none" w="med" len="med"/>
                    </a:lnB>
                  </a:tcPr>
                </a:tc>
                <a:tc>
                  <a:txBody>
                    <a:bodyPr/>
                    <a:lstStyle/>
                    <a:p>
                      <a:pPr indent="0" marL="0">
                        <a:lnSpc>
                          <a:spcPts val="1820"/>
                        </a:lnSpc>
                        <a:buNone/>
                      </a:pPr>
                      <a:r>
                        <a:rPr lang="en-US" sz="1300" dirty="0">
                          <a:solidFill>
                            <a:srgbClr val="96938C"/>
                          </a:solidFill>
                          <a:latin typeface="Space Grotesk" pitchFamily="34" charset="0"/>
                          <a:ea typeface="Space Grotesk" pitchFamily="34" charset="-122"/>
                          <a:cs typeface="Space Grotesk" pitchFamily="34" charset="-120"/>
                        </a:rPr>
                        <a:t>Cada conversa começa do zero</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363634"/>
                      </a:solidFill>
                      <a:prstDash val="solid"/>
                      <a:round/>
                      <a:headEnd type="none" w="med" len="med"/>
                      <a:tailEnd type="none" w="med" len="med"/>
                    </a:lnL>
                    <a:lnR w="12700" cap="flat" cmpd="sng" algn="ctr">
                      <a:solidFill>
                        <a:srgbClr val="363634"/>
                      </a:solidFill>
                      <a:prstDash val="solid"/>
                      <a:round/>
                      <a:headEnd type="none" w="med" len="med"/>
                      <a:tailEnd type="none" w="med" len="med"/>
                    </a:lnR>
                    <a:lnT w="12700" cap="flat" cmpd="sng" algn="ctr">
                      <a:solidFill>
                        <a:srgbClr val="363634"/>
                      </a:solidFill>
                      <a:prstDash val="solid"/>
                      <a:round/>
                      <a:headEnd type="none" w="med" len="med"/>
                      <a:tailEnd type="none" w="med" len="med"/>
                    </a:lnT>
                    <a:lnB w="12700" cap="flat" cmpd="sng" algn="ctr">
                      <a:solidFill>
                        <a:srgbClr val="363634"/>
                      </a:solidFill>
                      <a:prstDash val="solid"/>
                      <a:round/>
                      <a:headEnd type="none" w="med" len="med"/>
                      <a:tailEnd type="none" w="med" len="med"/>
                    </a:lnB>
                  </a:tcPr>
                </a:tc>
                <a:tc>
                  <a:txBody>
                    <a:bodyPr/>
                    <a:lstStyle/>
                    <a:p>
                      <a:pPr indent="0" marL="0">
                        <a:lnSpc>
                          <a:spcPts val="1820"/>
                        </a:lnSpc>
                        <a:buNone/>
                      </a:pPr>
                      <a:r>
                        <a:rPr lang="en-US" sz="1300" dirty="0">
                          <a:solidFill>
                            <a:srgbClr val="C9C7C0"/>
                          </a:solidFill>
                          <a:latin typeface="Space Grotesk" pitchFamily="34" charset="0"/>
                          <a:ea typeface="Space Grotesk" pitchFamily="34" charset="-122"/>
                          <a:cs typeface="Space Grotesk" pitchFamily="34" charset="-120"/>
                        </a:rPr>
                        <a:t>Trilha persistida: onde a pessoa trava de novo</a:t>
                      </a:r>
                      <a:endParaRPr lang="en-US" sz="1300" dirty="0">
                        <a:latin typeface="Space Grotesk" charset="0"/>
                        <a:ea typeface="Space Grotesk" charset="0"/>
                        <a:cs typeface="Space Grotesk" charset="0"/>
                      </a:endParaRPr>
                    </a:p>
                  </a:txBody>
                  <a:tcPr marL="57785" marR="57785" marT="57785" marB="57785" anchor="t">
                    <a:lnL w="12700" cap="flat" cmpd="sng" algn="ctr">
                      <a:solidFill>
                        <a:srgbClr val="363634"/>
                      </a:solidFill>
                      <a:prstDash val="solid"/>
                      <a:round/>
                      <a:headEnd type="none" w="med" len="med"/>
                      <a:tailEnd type="none" w="med" len="med"/>
                    </a:lnL>
                    <a:lnR w="12700" cap="flat" cmpd="sng" algn="ctr">
                      <a:solidFill>
                        <a:srgbClr val="363634"/>
                      </a:solidFill>
                      <a:prstDash val="solid"/>
                      <a:round/>
                      <a:headEnd type="none" w="med" len="med"/>
                      <a:tailEnd type="none" w="med" len="med"/>
                    </a:lnR>
                    <a:lnT w="12700" cap="flat" cmpd="sng" algn="ctr">
                      <a:solidFill>
                        <a:srgbClr val="363634"/>
                      </a:solidFill>
                      <a:prstDash val="solid"/>
                      <a:round/>
                      <a:headEnd type="none" w="med" len="med"/>
                      <a:tailEnd type="none" w="med" len="med"/>
                    </a:lnT>
                    <a:lnB w="12700" cap="flat" cmpd="sng" algn="ctr">
                      <a:solidFill>
                        <a:srgbClr val="363634"/>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C8F135"/>
        </a:solidFill>
      </p:bgPr>
    </p:bg>
    <p:spTree>
      <p:nvGrpSpPr>
        <p:cNvPr id="1" name=""/>
        <p:cNvGrpSpPr/>
        <p:nvPr/>
      </p:nvGrpSpPr>
      <p:grpSpPr>
        <a:xfrm>
          <a:off x="0" y="0"/>
          <a:ext cx="0" cy="0"/>
          <a:chOff x="0" y="0"/>
          <a:chExt cx="0" cy="0"/>
        </a:xfrm>
      </p:grpSpPr>
      <p:sp>
        <p:nvSpPr>
          <p:cNvPr id="2" name="Text 0"/>
          <p:cNvSpPr/>
          <p:nvPr/>
        </p:nvSpPr>
        <p:spPr>
          <a:xfrm>
            <a:off x="812800" y="158194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3D4A0A"/>
                </a:solidFill>
                <a:latin typeface="Space Mono" pitchFamily="34" charset="0"/>
                <a:ea typeface="Space Mono" pitchFamily="34" charset="-122"/>
                <a:cs typeface="Space Mono" pitchFamily="34" charset="-120"/>
              </a:rPr>
              <a:t>04 / DIFERENCIAL</a:t>
            </a:r>
            <a:endParaRPr lang="en-US" sz="1200" dirty="0"/>
          </a:p>
        </p:txBody>
      </p:sp>
      <p:sp>
        <p:nvSpPr>
          <p:cNvPr id="3" name="Text 1"/>
          <p:cNvSpPr/>
          <p:nvPr/>
        </p:nvSpPr>
        <p:spPr>
          <a:xfrm>
            <a:off x="812800" y="2074664"/>
            <a:ext cx="10203180" cy="1198761"/>
          </a:xfrm>
          <a:prstGeom prst="rect">
            <a:avLst/>
          </a:prstGeom>
          <a:noFill/>
          <a:ln/>
        </p:spPr>
        <p:txBody>
          <a:bodyPr wrap="square" lIns="0" tIns="0" rIns="0" bIns="0" rtlCol="0" anchor="t">
            <a:normAutofit/>
          </a:bodyPr>
          <a:lstStyle/>
          <a:p>
            <a:pPr algn="l" indent="0" marL="0">
              <a:lnSpc>
                <a:spcPts val="4620"/>
              </a:lnSpc>
              <a:buNone/>
            </a:pPr>
            <a:r>
              <a:rPr lang="en-US" sz="4200" b="1" dirty="0">
                <a:solidFill>
                  <a:srgbClr val="14140F"/>
                </a:solidFill>
                <a:latin typeface="Space Grotesk" pitchFamily="34" charset="0"/>
                <a:ea typeface="Space Grotesk" pitchFamily="34" charset="-122"/>
                <a:cs typeface="Space Grotesk" pitchFamily="34" charset="-120"/>
              </a:rPr>
              <a:t>O SeniorLab existe para produzir a pergunta, não a resposta.</a:t>
            </a:r>
            <a:endParaRPr lang="en-US" sz="4200" dirty="0"/>
          </a:p>
        </p:txBody>
      </p:sp>
      <p:sp>
        <p:nvSpPr>
          <p:cNvPr id="4" name="Text 2"/>
          <p:cNvSpPr/>
          <p:nvPr/>
        </p:nvSpPr>
        <p:spPr>
          <a:xfrm>
            <a:off x="812800" y="3527425"/>
            <a:ext cx="9810750" cy="688181"/>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22220E"/>
                </a:solidFill>
                <a:latin typeface="Space Grotesk" pitchFamily="34" charset="0"/>
                <a:ea typeface="Space Grotesk" pitchFamily="34" charset="-122"/>
                <a:cs typeface="Space Grotesk" pitchFamily="34" charset="-120"/>
              </a:rPr>
              <a:t>Quem libera o aluno é o servidor, não o modelo. O agente apenas sinaliza o nível demonstrado; a regra de progressão é do backend.</a:t>
            </a:r>
            <a:endParaRPr lang="en-US" sz="1800" dirty="0"/>
          </a:p>
        </p:txBody>
      </p:sp>
      <p:sp>
        <p:nvSpPr>
          <p:cNvPr id="5" name="Shape 3"/>
          <p:cNvSpPr/>
          <p:nvPr/>
        </p:nvSpPr>
        <p:spPr>
          <a:xfrm>
            <a:off x="812800" y="4469606"/>
            <a:ext cx="3420467" cy="603250"/>
          </a:xfrm>
          <a:prstGeom prst="roundRect">
            <a:avLst>
              <a:gd name="adj" fmla="val 12632"/>
            </a:avLst>
          </a:prstGeom>
          <a:solidFill>
            <a:srgbClr val="14140F"/>
          </a:solidFill>
          <a:ln/>
        </p:spPr>
      </p:sp>
      <p:sp>
        <p:nvSpPr>
          <p:cNvPr id="6" name="Text 4"/>
          <p:cNvSpPr/>
          <p:nvPr/>
        </p:nvSpPr>
        <p:spPr>
          <a:xfrm>
            <a:off x="1016000" y="4647406"/>
            <a:ext cx="3104489"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8F135"/>
                </a:solidFill>
                <a:latin typeface="Space Mono" pitchFamily="34" charset="0"/>
                <a:ea typeface="Space Mono" pitchFamily="34" charset="-122"/>
                <a:cs typeface="Space Mono" pitchFamily="34" charset="-120"/>
              </a:rPr>
              <a:t>409 topico_nao_concluido</a:t>
            </a:r>
            <a:endParaRPr lang="en-US" sz="1300" dirty="0"/>
          </a:p>
        </p:txBody>
      </p:sp>
      <p:sp>
        <p:nvSpPr>
          <p:cNvPr id="7" name="Shape 5"/>
          <p:cNvSpPr/>
          <p:nvPr/>
        </p:nvSpPr>
        <p:spPr>
          <a:xfrm>
            <a:off x="4385667" y="4469606"/>
            <a:ext cx="3420566" cy="603250"/>
          </a:xfrm>
          <a:prstGeom prst="roundRect">
            <a:avLst>
              <a:gd name="adj" fmla="val 12632"/>
            </a:avLst>
          </a:prstGeom>
          <a:solidFill>
            <a:srgbClr val="14140F"/>
          </a:solidFill>
          <a:ln/>
        </p:spPr>
      </p:sp>
      <p:sp>
        <p:nvSpPr>
          <p:cNvPr id="8" name="Text 6"/>
          <p:cNvSpPr/>
          <p:nvPr/>
        </p:nvSpPr>
        <p:spPr>
          <a:xfrm>
            <a:off x="4588867" y="4647406"/>
            <a:ext cx="3104591"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8F135"/>
                </a:solidFill>
                <a:latin typeface="Space Mono" pitchFamily="34" charset="0"/>
                <a:ea typeface="Space Mono" pitchFamily="34" charset="-122"/>
                <a:cs typeface="Space Mono" pitchFamily="34" charset="-120"/>
              </a:rPr>
              <a:t>409 pre_requisito_faltante</a:t>
            </a:r>
            <a:endParaRPr lang="en-US" sz="1300" dirty="0"/>
          </a:p>
        </p:txBody>
      </p:sp>
      <p:sp>
        <p:nvSpPr>
          <p:cNvPr id="9" name="Shape 7"/>
          <p:cNvSpPr/>
          <p:nvPr/>
        </p:nvSpPr>
        <p:spPr>
          <a:xfrm>
            <a:off x="7958634" y="4469606"/>
            <a:ext cx="3420566" cy="603250"/>
          </a:xfrm>
          <a:prstGeom prst="roundRect">
            <a:avLst>
              <a:gd name="adj" fmla="val 12632"/>
            </a:avLst>
          </a:prstGeom>
          <a:solidFill>
            <a:srgbClr val="14140F"/>
          </a:solidFill>
          <a:ln/>
        </p:spPr>
      </p:sp>
      <p:sp>
        <p:nvSpPr>
          <p:cNvPr id="10" name="Text 8"/>
          <p:cNvSpPr/>
          <p:nvPr/>
        </p:nvSpPr>
        <p:spPr>
          <a:xfrm>
            <a:off x="8161834" y="4647406"/>
            <a:ext cx="3104591"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8F135"/>
                </a:solidFill>
                <a:latin typeface="Space Mono" pitchFamily="34" charset="0"/>
                <a:ea typeface="Space Mono" pitchFamily="34" charset="-122"/>
                <a:cs typeface="Space Mono" pitchFamily="34" charset="-120"/>
              </a:rPr>
              <a:t>422 teto_de_turnos_atingido</a:t>
            </a:r>
            <a:endParaRPr lang="en-US" sz="13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0A"/>
                </a:solidFill>
                <a:latin typeface="Space Mono" pitchFamily="34" charset="0"/>
                <a:ea typeface="Space Mono" pitchFamily="34" charset="-122"/>
                <a:cs typeface="Space Mono" pitchFamily="34" charset="-120"/>
              </a:rPr>
              <a:t>A causa raiz é definida pelo servidor antes da sessão e gravada ao lado do veredito do agente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1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C7300"/>
                </a:solidFill>
                <a:latin typeface="Space Mono" pitchFamily="34" charset="0"/>
                <a:ea typeface="Space Mono" pitchFamily="34" charset="-122"/>
                <a:cs typeface="Space Mono" pitchFamily="34" charset="-120"/>
              </a:rPr>
              <a:t>05 / VALIDAÇÃO</a:t>
            </a:r>
            <a:endParaRPr lang="en-US" sz="1200" dirty="0"/>
          </a:p>
        </p:txBody>
      </p:sp>
      <p:sp>
        <p:nvSpPr>
          <p:cNvPr id="3" name="Text 1"/>
          <p:cNvSpPr/>
          <p:nvPr/>
        </p:nvSpPr>
        <p:spPr>
          <a:xfrm>
            <a:off x="812800" y="1254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4140F"/>
                </a:solidFill>
                <a:latin typeface="Space Grotesk" pitchFamily="34" charset="0"/>
                <a:ea typeface="Space Grotesk" pitchFamily="34" charset="-122"/>
                <a:cs typeface="Space Grotesk" pitchFamily="34" charset="-120"/>
              </a:rPr>
              <a:t>O que ouvimos dos entrevistados</a:t>
            </a:r>
            <a:endParaRPr lang="en-US" sz="3200" dirty="0"/>
          </a:p>
        </p:txBody>
      </p:sp>
      <p:sp>
        <p:nvSpPr>
          <p:cNvPr id="4" name="Shape 2"/>
          <p:cNvSpPr/>
          <p:nvPr/>
        </p:nvSpPr>
        <p:spPr>
          <a:xfrm>
            <a:off x="815975" y="1953816"/>
            <a:ext cx="3414117" cy="1382911"/>
          </a:xfrm>
          <a:prstGeom prst="roundRect">
            <a:avLst>
              <a:gd name="adj" fmla="val 5281"/>
            </a:avLst>
          </a:prstGeom>
          <a:solidFill>
            <a:srgbClr val="FFFFFF"/>
          </a:solidFill>
          <a:ln w="6350">
            <a:solidFill>
              <a:srgbClr val="D8D6CE"/>
            </a:solidFill>
            <a:prstDash val="solid"/>
          </a:ln>
        </p:spPr>
      </p:sp>
      <p:sp>
        <p:nvSpPr>
          <p:cNvPr id="5" name="Text 3"/>
          <p:cNvSpPr/>
          <p:nvPr/>
        </p:nvSpPr>
        <p:spPr>
          <a:xfrm>
            <a:off x="1022350" y="2160191"/>
            <a:ext cx="3091408" cy="482600"/>
          </a:xfrm>
          <a:prstGeom prst="rect">
            <a:avLst/>
          </a:prstGeom>
          <a:noFill/>
          <a:ln/>
        </p:spPr>
        <p:txBody>
          <a:bodyPr wrap="square" lIns="0" tIns="0" rIns="0" bIns="0" rtlCol="0" anchor="t">
            <a:normAutofit/>
          </a:bodyPr>
          <a:lstStyle/>
          <a:p>
            <a:pPr algn="l" indent="0" marL="0">
              <a:lnSpc>
                <a:spcPts val="3600"/>
              </a:lnSpc>
              <a:buNone/>
            </a:pPr>
            <a:r>
              <a:rPr lang="en-US" sz="3000" b="1" dirty="0">
                <a:solidFill>
                  <a:srgbClr val="14140F"/>
                </a:solidFill>
                <a:latin typeface="Space Grotesk" pitchFamily="34" charset="0"/>
                <a:ea typeface="Space Grotesk" pitchFamily="34" charset="-122"/>
                <a:cs typeface="Space Grotesk" pitchFamily="34" charset="-120"/>
              </a:rPr>
              <a:t>4/6</a:t>
            </a:r>
            <a:endParaRPr lang="en-US" sz="3000" dirty="0"/>
          </a:p>
        </p:txBody>
      </p:sp>
      <p:sp>
        <p:nvSpPr>
          <p:cNvPr id="6" name="Text 4"/>
          <p:cNvSpPr/>
          <p:nvPr/>
        </p:nvSpPr>
        <p:spPr>
          <a:xfrm>
            <a:off x="1022350" y="2668191"/>
            <a:ext cx="309140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3A36"/>
                </a:solidFill>
                <a:latin typeface="Space Grotesk" pitchFamily="34" charset="0"/>
                <a:ea typeface="Space Grotesk" pitchFamily="34" charset="-122"/>
                <a:cs typeface="Space Grotesk" pitchFamily="34" charset="-120"/>
              </a:rPr>
              <a:t>apontaram arquitetura como o gap principal do aprendizado formal</a:t>
            </a:r>
            <a:endParaRPr lang="en-US" sz="1300" dirty="0"/>
          </a:p>
        </p:txBody>
      </p:sp>
      <p:sp>
        <p:nvSpPr>
          <p:cNvPr id="7" name="Shape 5"/>
          <p:cNvSpPr/>
          <p:nvPr/>
        </p:nvSpPr>
        <p:spPr>
          <a:xfrm>
            <a:off x="4388842" y="1953816"/>
            <a:ext cx="3414216" cy="1382911"/>
          </a:xfrm>
          <a:prstGeom prst="roundRect">
            <a:avLst>
              <a:gd name="adj" fmla="val 5281"/>
            </a:avLst>
          </a:prstGeom>
          <a:solidFill>
            <a:srgbClr val="FFFFFF"/>
          </a:solidFill>
          <a:ln w="6350">
            <a:solidFill>
              <a:srgbClr val="D8D6CE"/>
            </a:solidFill>
            <a:prstDash val="solid"/>
          </a:ln>
        </p:spPr>
      </p:sp>
      <p:sp>
        <p:nvSpPr>
          <p:cNvPr id="8" name="Text 6"/>
          <p:cNvSpPr/>
          <p:nvPr/>
        </p:nvSpPr>
        <p:spPr>
          <a:xfrm>
            <a:off x="4595217" y="2160191"/>
            <a:ext cx="3091510" cy="482600"/>
          </a:xfrm>
          <a:prstGeom prst="rect">
            <a:avLst/>
          </a:prstGeom>
          <a:noFill/>
          <a:ln/>
        </p:spPr>
        <p:txBody>
          <a:bodyPr wrap="square" lIns="0" tIns="0" rIns="0" bIns="0" rtlCol="0" anchor="t">
            <a:normAutofit/>
          </a:bodyPr>
          <a:lstStyle/>
          <a:p>
            <a:pPr algn="l" indent="0" marL="0">
              <a:lnSpc>
                <a:spcPts val="3600"/>
              </a:lnSpc>
              <a:buNone/>
            </a:pPr>
            <a:r>
              <a:rPr lang="en-US" sz="3000" b="1" dirty="0">
                <a:solidFill>
                  <a:srgbClr val="14140F"/>
                </a:solidFill>
                <a:latin typeface="Space Grotesk" pitchFamily="34" charset="0"/>
                <a:ea typeface="Space Grotesk" pitchFamily="34" charset="-122"/>
                <a:cs typeface="Space Grotesk" pitchFamily="34" charset="-120"/>
              </a:rPr>
              <a:t>5/6</a:t>
            </a:r>
            <a:endParaRPr lang="en-US" sz="3000" dirty="0"/>
          </a:p>
        </p:txBody>
      </p:sp>
      <p:sp>
        <p:nvSpPr>
          <p:cNvPr id="9" name="Text 7"/>
          <p:cNvSpPr/>
          <p:nvPr/>
        </p:nvSpPr>
        <p:spPr>
          <a:xfrm>
            <a:off x="4595217" y="2668191"/>
            <a:ext cx="30915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3A36"/>
                </a:solidFill>
                <a:latin typeface="Space Grotesk" pitchFamily="34" charset="0"/>
                <a:ea typeface="Space Grotesk" pitchFamily="34" charset="-122"/>
                <a:cs typeface="Space Grotesk" pitchFamily="34" charset="-120"/>
              </a:rPr>
              <a:t>demonstraram interesse ao ouvir a proposta, sem o nome do produto</a:t>
            </a:r>
            <a:endParaRPr lang="en-US" sz="1300" dirty="0"/>
          </a:p>
        </p:txBody>
      </p:sp>
      <p:sp>
        <p:nvSpPr>
          <p:cNvPr id="10" name="Shape 8"/>
          <p:cNvSpPr/>
          <p:nvPr/>
        </p:nvSpPr>
        <p:spPr>
          <a:xfrm>
            <a:off x="7961809" y="1953816"/>
            <a:ext cx="3414216" cy="1382911"/>
          </a:xfrm>
          <a:prstGeom prst="roundRect">
            <a:avLst>
              <a:gd name="adj" fmla="val 5281"/>
            </a:avLst>
          </a:prstGeom>
          <a:solidFill>
            <a:srgbClr val="FFFFFF"/>
          </a:solidFill>
          <a:ln w="6350">
            <a:solidFill>
              <a:srgbClr val="D8D6CE"/>
            </a:solidFill>
            <a:prstDash val="solid"/>
          </a:ln>
        </p:spPr>
      </p:sp>
      <p:sp>
        <p:nvSpPr>
          <p:cNvPr id="11" name="Text 9"/>
          <p:cNvSpPr/>
          <p:nvPr/>
        </p:nvSpPr>
        <p:spPr>
          <a:xfrm>
            <a:off x="8168184" y="2160191"/>
            <a:ext cx="3091510" cy="482600"/>
          </a:xfrm>
          <a:prstGeom prst="rect">
            <a:avLst/>
          </a:prstGeom>
          <a:noFill/>
          <a:ln/>
        </p:spPr>
        <p:txBody>
          <a:bodyPr wrap="square" lIns="0" tIns="0" rIns="0" bIns="0" rtlCol="0" anchor="t">
            <a:normAutofit/>
          </a:bodyPr>
          <a:lstStyle/>
          <a:p>
            <a:pPr algn="l" indent="0" marL="0">
              <a:lnSpc>
                <a:spcPts val="3600"/>
              </a:lnSpc>
              <a:buNone/>
            </a:pPr>
            <a:r>
              <a:rPr lang="en-US" sz="3000" b="1" dirty="0">
                <a:solidFill>
                  <a:srgbClr val="14140F"/>
                </a:solidFill>
                <a:latin typeface="Space Grotesk" pitchFamily="34" charset="0"/>
                <a:ea typeface="Space Grotesk" pitchFamily="34" charset="-122"/>
                <a:cs typeface="Space Grotesk" pitchFamily="34" charset="-120"/>
              </a:rPr>
              <a:t>4/6</a:t>
            </a:r>
            <a:endParaRPr lang="en-US" sz="3000" dirty="0"/>
          </a:p>
        </p:txBody>
      </p:sp>
      <p:sp>
        <p:nvSpPr>
          <p:cNvPr id="12" name="Text 10"/>
          <p:cNvSpPr/>
          <p:nvPr/>
        </p:nvSpPr>
        <p:spPr>
          <a:xfrm>
            <a:off x="8168184" y="2668191"/>
            <a:ext cx="30915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3A36"/>
                </a:solidFill>
                <a:latin typeface="Space Grotesk" pitchFamily="34" charset="0"/>
                <a:ea typeface="Space Grotesk" pitchFamily="34" charset="-122"/>
                <a:cs typeface="Space Grotesk" pitchFamily="34" charset="-120"/>
              </a:rPr>
              <a:t>sinalizaram disposição a pagar, com âncoras entre R$ 40 e R$ 100</a:t>
            </a:r>
            <a:endParaRPr lang="en-US" sz="1300" dirty="0"/>
          </a:p>
        </p:txBody>
      </p:sp>
      <p:sp>
        <p:nvSpPr>
          <p:cNvPr id="13" name="Shape 11"/>
          <p:cNvSpPr/>
          <p:nvPr/>
        </p:nvSpPr>
        <p:spPr>
          <a:xfrm>
            <a:off x="825500" y="3568502"/>
            <a:ext cx="0" cy="1111647"/>
          </a:xfrm>
          <a:prstGeom prst="line">
            <a:avLst/>
          </a:prstGeom>
          <a:noFill/>
          <a:ln w="25400">
            <a:solidFill>
              <a:srgbClr val="4C7300"/>
            </a:solidFill>
            <a:prstDash val="solid"/>
          </a:ln>
        </p:spPr>
      </p:sp>
      <p:sp>
        <p:nvSpPr>
          <p:cNvPr id="14" name="Text 12"/>
          <p:cNvSpPr/>
          <p:nvPr/>
        </p:nvSpPr>
        <p:spPr>
          <a:xfrm>
            <a:off x="1016000" y="3619302"/>
            <a:ext cx="515391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40F"/>
                </a:solidFill>
                <a:latin typeface="Space Grotesk" pitchFamily="34" charset="0"/>
                <a:ea typeface="Space Grotesk" pitchFamily="34" charset="-122"/>
                <a:cs typeface="Space Grotesk" pitchFamily="34" charset="-120"/>
              </a:rPr>
              <a:t>A validação mudou o produto</a:t>
            </a:r>
            <a:endParaRPr lang="en-US" sz="1500" dirty="0"/>
          </a:p>
        </p:txBody>
      </p:sp>
      <p:sp>
        <p:nvSpPr>
          <p:cNvPr id="15" name="Text 13"/>
          <p:cNvSpPr/>
          <p:nvPr/>
        </p:nvSpPr>
        <p:spPr>
          <a:xfrm>
            <a:off x="1016000" y="3911402"/>
            <a:ext cx="5153914"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A3A36"/>
                </a:solidFill>
                <a:latin typeface="Space Grotesk" pitchFamily="34" charset="0"/>
                <a:ea typeface="Space Grotesk" pitchFamily="34" charset="-122"/>
                <a:cs typeface="Space Grotesk" pitchFamily="34" charset="-120"/>
              </a:rPr>
              <a:t>Continuidade entre sessões era roadmap. Virou escopo do MVP porque um entrevistado perguntou se cada sessão começava do zero.</a:t>
            </a:r>
            <a:endParaRPr lang="en-US" sz="1300" dirty="0"/>
          </a:p>
        </p:txBody>
      </p:sp>
      <p:sp>
        <p:nvSpPr>
          <p:cNvPr id="16" name="Shape 14"/>
          <p:cNvSpPr/>
          <p:nvPr/>
        </p:nvSpPr>
        <p:spPr>
          <a:xfrm>
            <a:off x="6184900" y="3568502"/>
            <a:ext cx="0" cy="1111647"/>
          </a:xfrm>
          <a:prstGeom prst="line">
            <a:avLst/>
          </a:prstGeom>
          <a:noFill/>
          <a:ln w="25400">
            <a:solidFill>
              <a:srgbClr val="5A3FCF"/>
            </a:solidFill>
            <a:prstDash val="solid"/>
          </a:ln>
        </p:spPr>
      </p:sp>
      <p:sp>
        <p:nvSpPr>
          <p:cNvPr id="17" name="Text 15"/>
          <p:cNvSpPr/>
          <p:nvPr/>
        </p:nvSpPr>
        <p:spPr>
          <a:xfrm>
            <a:off x="6375400" y="3619302"/>
            <a:ext cx="515391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40F"/>
                </a:solidFill>
                <a:latin typeface="Space Grotesk" pitchFamily="34" charset="0"/>
                <a:ea typeface="Space Grotesk" pitchFamily="34" charset="-122"/>
                <a:cs typeface="Space Grotesk" pitchFamily="34" charset="-120"/>
              </a:rPr>
              <a:t>O contraponto que registramos</a:t>
            </a:r>
            <a:endParaRPr lang="en-US" sz="1500" dirty="0"/>
          </a:p>
        </p:txBody>
      </p:sp>
      <p:sp>
        <p:nvSpPr>
          <p:cNvPr id="18" name="Text 16"/>
          <p:cNvSpPr/>
          <p:nvPr/>
        </p:nvSpPr>
        <p:spPr>
          <a:xfrm>
            <a:off x="6375400" y="3911402"/>
            <a:ext cx="5153914"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A3A36"/>
                </a:solidFill>
                <a:latin typeface="Space Grotesk" pitchFamily="34" charset="0"/>
                <a:ea typeface="Space Grotesk" pitchFamily="34" charset="-122"/>
                <a:cs typeface="Space Grotesk" pitchFamily="34" charset="-120"/>
              </a:rPr>
              <a:t>O QA sênior viu pouco valor: a dor dele é começar projeto do zero, não sobreviver a incidente. Limite de persona assumido.</a:t>
            </a:r>
            <a:endParaRPr lang="en-US" sz="13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0"/>
                </a:solidFill>
                <a:latin typeface="Space Mono" pitchFamily="34" charset="0"/>
                <a:ea typeface="Space Mono" pitchFamily="34" charset="-122"/>
                <a:cs typeface="Space Mono" pitchFamily="34" charset="-120"/>
              </a:rPr>
              <a:t>6 entrevistas em profundidade · 10 a 16 de set/2026 · roteiro de 4 fases · respostas brutas em planilha aberta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8F135"/>
                </a:solidFill>
                <a:latin typeface="Space Mono" pitchFamily="34" charset="0"/>
                <a:ea typeface="Space Mono" pitchFamily="34" charset="-122"/>
                <a:cs typeface="Space Mono" pitchFamily="34" charset="-120"/>
              </a:rPr>
              <a:t>06 / MODELO</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2F1EC"/>
                </a:solidFill>
                <a:latin typeface="Space Grotesk" pitchFamily="34" charset="0"/>
                <a:ea typeface="Space Grotesk" pitchFamily="34" charset="-122"/>
                <a:cs typeface="Space Grotesk" pitchFamily="34" charset="-120"/>
              </a:rPr>
              <a:t>Modelo de negócio</a:t>
            </a:r>
            <a:endParaRPr lang="en-US" sz="3200" dirty="0"/>
          </a:p>
        </p:txBody>
      </p:sp>
      <p:sp>
        <p:nvSpPr>
          <p:cNvPr id="4" name="Shape 2"/>
          <p:cNvSpPr/>
          <p:nvPr/>
        </p:nvSpPr>
        <p:spPr>
          <a:xfrm>
            <a:off x="815975" y="2004616"/>
            <a:ext cx="5200650" cy="1943497"/>
          </a:xfrm>
          <a:prstGeom prst="roundRect">
            <a:avLst>
              <a:gd name="adj" fmla="val 3757"/>
            </a:avLst>
          </a:prstGeom>
          <a:solidFill>
            <a:srgbClr val="151518"/>
          </a:solidFill>
          <a:ln w="6350">
            <a:solidFill>
              <a:srgbClr val="2A2A2C"/>
            </a:solidFill>
            <a:prstDash val="solid"/>
          </a:ln>
        </p:spPr>
      </p:sp>
      <p:sp>
        <p:nvSpPr>
          <p:cNvPr id="5" name="Text 3"/>
          <p:cNvSpPr/>
          <p:nvPr/>
        </p:nvSpPr>
        <p:spPr>
          <a:xfrm>
            <a:off x="1073150" y="2261791"/>
            <a:ext cx="48268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C8F135"/>
                </a:solidFill>
                <a:latin typeface="Space Grotesk" pitchFamily="34" charset="0"/>
                <a:ea typeface="Space Grotesk" pitchFamily="34" charset="-122"/>
                <a:cs typeface="Space Grotesk" pitchFamily="34" charset="-120"/>
              </a:rPr>
              <a:t>R$ 49 /mês</a:t>
            </a:r>
            <a:endParaRPr lang="en-US" sz="2000" dirty="0"/>
          </a:p>
        </p:txBody>
      </p:sp>
      <p:sp>
        <p:nvSpPr>
          <p:cNvPr id="6" name="Text 4"/>
          <p:cNvSpPr/>
          <p:nvPr/>
        </p:nvSpPr>
        <p:spPr>
          <a:xfrm>
            <a:off x="1073150" y="2655491"/>
            <a:ext cx="48268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F1EC"/>
                </a:solidFill>
                <a:latin typeface="Space Grotesk" pitchFamily="34" charset="0"/>
                <a:ea typeface="Space Grotesk" pitchFamily="34" charset="-122"/>
                <a:cs typeface="Space Grotesk" pitchFamily="34" charset="-120"/>
              </a:rPr>
              <a:t>Freemium individual</a:t>
            </a:r>
            <a:endParaRPr lang="en-US" sz="1500" dirty="0"/>
          </a:p>
        </p:txBody>
      </p:sp>
      <p:sp>
        <p:nvSpPr>
          <p:cNvPr id="7" name="Text 5"/>
          <p:cNvSpPr/>
          <p:nvPr/>
        </p:nvSpPr>
        <p:spPr>
          <a:xfrm>
            <a:off x="1073150" y="2972991"/>
            <a:ext cx="4826889"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C7C0"/>
                </a:solidFill>
                <a:latin typeface="Space Grotesk" pitchFamily="34" charset="0"/>
                <a:ea typeface="Space Grotesk" pitchFamily="34" charset="-122"/>
                <a:cs typeface="Space Grotesk" pitchFamily="34" charset="-120"/>
              </a:rPr>
              <a:t>Gratuito: 3 sessões por mês, 1 domínio, sem histórico. Pago: sessões ilimitadas, todos os domínios e trilha persistente.</a:t>
            </a:r>
            <a:endParaRPr lang="en-US" sz="1300" dirty="0"/>
          </a:p>
        </p:txBody>
      </p:sp>
      <p:sp>
        <p:nvSpPr>
          <p:cNvPr id="8" name="Shape 6"/>
          <p:cNvSpPr/>
          <p:nvPr/>
        </p:nvSpPr>
        <p:spPr>
          <a:xfrm>
            <a:off x="6175375" y="2004616"/>
            <a:ext cx="5200650" cy="1943497"/>
          </a:xfrm>
          <a:prstGeom prst="roundRect">
            <a:avLst>
              <a:gd name="adj" fmla="val 3757"/>
            </a:avLst>
          </a:prstGeom>
          <a:solidFill>
            <a:srgbClr val="151518"/>
          </a:solidFill>
          <a:ln w="6350">
            <a:solidFill>
              <a:srgbClr val="2A2A2C"/>
            </a:solidFill>
            <a:prstDash val="solid"/>
          </a:ln>
        </p:spPr>
      </p:sp>
      <p:sp>
        <p:nvSpPr>
          <p:cNvPr id="9" name="Text 7"/>
          <p:cNvSpPr/>
          <p:nvPr/>
        </p:nvSpPr>
        <p:spPr>
          <a:xfrm>
            <a:off x="6432550" y="2261791"/>
            <a:ext cx="48268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C8F135"/>
                </a:solidFill>
                <a:latin typeface="Space Grotesk" pitchFamily="34" charset="0"/>
                <a:ea typeface="Space Grotesk" pitchFamily="34" charset="-122"/>
                <a:cs typeface="Space Grotesk" pitchFamily="34" charset="-120"/>
              </a:rPr>
              <a:t>R$ 39 /assento</a:t>
            </a:r>
            <a:endParaRPr lang="en-US" sz="2000" dirty="0"/>
          </a:p>
        </p:txBody>
      </p:sp>
      <p:sp>
        <p:nvSpPr>
          <p:cNvPr id="10" name="Text 8"/>
          <p:cNvSpPr/>
          <p:nvPr/>
        </p:nvSpPr>
        <p:spPr>
          <a:xfrm>
            <a:off x="6432550" y="2655491"/>
            <a:ext cx="48268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F1EC"/>
                </a:solidFill>
                <a:latin typeface="Space Grotesk" pitchFamily="34" charset="0"/>
                <a:ea typeface="Space Grotesk" pitchFamily="34" charset="-122"/>
                <a:cs typeface="Space Grotesk" pitchFamily="34" charset="-120"/>
              </a:rPr>
              <a:t>B2B por licença</a:t>
            </a:r>
            <a:endParaRPr lang="en-US" sz="1500" dirty="0"/>
          </a:p>
        </p:txBody>
      </p:sp>
      <p:sp>
        <p:nvSpPr>
          <p:cNvPr id="11" name="Text 9"/>
          <p:cNvSpPr/>
          <p:nvPr/>
        </p:nvSpPr>
        <p:spPr>
          <a:xfrm>
            <a:off x="6432550" y="2972991"/>
            <a:ext cx="4826889"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C7C0"/>
                </a:solidFill>
                <a:latin typeface="Space Grotesk" pitchFamily="34" charset="0"/>
                <a:ea typeface="Space Grotesk" pitchFamily="34" charset="-122"/>
                <a:cs typeface="Space Grotesk" pitchFamily="34" charset="-120"/>
              </a:rPr>
              <a:t>Licença por dev contratado, mínimo de 10 assentos. Dashboard de rampeamento e ROI medido em semanas até a primeira entrega autônoma.</a:t>
            </a:r>
            <a:endParaRPr lang="en-US" sz="1300" dirty="0"/>
          </a:p>
        </p:txBody>
      </p:sp>
      <p:sp>
        <p:nvSpPr>
          <p:cNvPr id="12" name="Shape 10"/>
          <p:cNvSpPr/>
          <p:nvPr/>
        </p:nvSpPr>
        <p:spPr>
          <a:xfrm>
            <a:off x="825500" y="4205288"/>
            <a:ext cx="0" cy="826095"/>
          </a:xfrm>
          <a:prstGeom prst="line">
            <a:avLst/>
          </a:prstGeom>
          <a:noFill/>
          <a:ln w="25400">
            <a:solidFill>
              <a:srgbClr val="A78BFA"/>
            </a:solidFill>
            <a:prstDash val="solid"/>
          </a:ln>
        </p:spPr>
      </p:sp>
      <p:sp>
        <p:nvSpPr>
          <p:cNvPr id="13" name="Text 11"/>
          <p:cNvSpPr/>
          <p:nvPr/>
        </p:nvSpPr>
        <p:spPr>
          <a:xfrm>
            <a:off x="1016000" y="4256088"/>
            <a:ext cx="515391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F1EC"/>
                </a:solidFill>
                <a:latin typeface="Space Grotesk" pitchFamily="34" charset="0"/>
                <a:ea typeface="Space Grotesk" pitchFamily="34" charset="-122"/>
                <a:cs typeface="Space Grotesk" pitchFamily="34" charset="-120"/>
              </a:rPr>
              <a:t>Preço ancorado na validação</a:t>
            </a:r>
            <a:endParaRPr lang="en-US" sz="1400" dirty="0"/>
          </a:p>
        </p:txBody>
      </p:sp>
      <p:sp>
        <p:nvSpPr>
          <p:cNvPr id="14" name="Text 12"/>
          <p:cNvSpPr/>
          <p:nvPr/>
        </p:nvSpPr>
        <p:spPr>
          <a:xfrm>
            <a:off x="1016000" y="4520208"/>
            <a:ext cx="5153914"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C9C7C0"/>
                </a:solidFill>
                <a:latin typeface="Space Grotesk" pitchFamily="34" charset="0"/>
                <a:ea typeface="Space Grotesk" pitchFamily="34" charset="-122"/>
                <a:cs typeface="Space Grotesk" pitchFamily="34" charset="-120"/>
              </a:rPr>
              <a:t>Âncoras espontâneas entre R$ 39,90 e R$ 100/mês, mediana em R$ 50.</a:t>
            </a:r>
            <a:endParaRPr lang="en-US" sz="1250" dirty="0"/>
          </a:p>
        </p:txBody>
      </p:sp>
      <p:sp>
        <p:nvSpPr>
          <p:cNvPr id="15" name="Shape 13"/>
          <p:cNvSpPr/>
          <p:nvPr/>
        </p:nvSpPr>
        <p:spPr>
          <a:xfrm>
            <a:off x="6184900" y="4205288"/>
            <a:ext cx="0" cy="826095"/>
          </a:xfrm>
          <a:prstGeom prst="line">
            <a:avLst/>
          </a:prstGeom>
          <a:noFill/>
          <a:ln w="25400">
            <a:solidFill>
              <a:srgbClr val="A78BFA"/>
            </a:solidFill>
            <a:prstDash val="solid"/>
          </a:ln>
        </p:spPr>
      </p:sp>
      <p:sp>
        <p:nvSpPr>
          <p:cNvPr id="16" name="Text 14"/>
          <p:cNvSpPr/>
          <p:nvPr/>
        </p:nvSpPr>
        <p:spPr>
          <a:xfrm>
            <a:off x="6375400" y="4256088"/>
            <a:ext cx="515391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F1EC"/>
                </a:solidFill>
                <a:latin typeface="Space Grotesk" pitchFamily="34" charset="0"/>
                <a:ea typeface="Space Grotesk" pitchFamily="34" charset="-122"/>
                <a:cs typeface="Space Grotesk" pitchFamily="34" charset="-120"/>
              </a:rPr>
              <a:t>MVP com custo de inferência zero</a:t>
            </a:r>
            <a:endParaRPr lang="en-US" sz="1400" dirty="0"/>
          </a:p>
        </p:txBody>
      </p:sp>
      <p:sp>
        <p:nvSpPr>
          <p:cNvPr id="17" name="Text 15"/>
          <p:cNvSpPr/>
          <p:nvPr/>
        </p:nvSpPr>
        <p:spPr>
          <a:xfrm>
            <a:off x="6375400" y="4520208"/>
            <a:ext cx="5153914"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C9C7C0"/>
                </a:solidFill>
                <a:latin typeface="Space Grotesk" pitchFamily="34" charset="0"/>
                <a:ea typeface="Space Grotesk" pitchFamily="34" charset="-122"/>
                <a:cs typeface="Space Grotesk" pitchFamily="34" charset="-120"/>
              </a:rPr>
              <a:t>Roda em BYOK: a chave é do usuário e nunca chega ao nosso banco.</a:t>
            </a:r>
            <a:endParaRPr lang="en-US" sz="125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880"/>
                </a:solidFill>
                <a:latin typeface="Space Mono" pitchFamily="34" charset="0"/>
                <a:ea typeface="Space Mono" pitchFamily="34" charset="-122"/>
                <a:cs typeface="Space Mono" pitchFamily="34" charset="-120"/>
              </a:rPr>
              <a:t>O B2B responde ao risco que a validação apontou: a persona já paga uma assinatura de IA e resiste a uma segunda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8F135"/>
                </a:solidFill>
                <a:latin typeface="Space Mono" pitchFamily="34" charset="0"/>
                <a:ea typeface="Space Mono" pitchFamily="34" charset="-122"/>
                <a:cs typeface="Space Mono" pitchFamily="34" charset="-120"/>
              </a:rPr>
              <a:t>07 / IMPACTO</a:t>
            </a:r>
            <a:endParaRPr lang="en-US" sz="1200" dirty="0"/>
          </a:p>
        </p:txBody>
      </p:sp>
      <p:sp>
        <p:nvSpPr>
          <p:cNvPr id="3" name="Text 1"/>
          <p:cNvSpPr/>
          <p:nvPr/>
        </p:nvSpPr>
        <p:spPr>
          <a:xfrm>
            <a:off x="812800" y="13055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2F1EC"/>
                </a:solidFill>
                <a:latin typeface="Space Grotesk" pitchFamily="34" charset="0"/>
                <a:ea typeface="Space Grotesk" pitchFamily="34" charset="-122"/>
                <a:cs typeface="Space Grotesk" pitchFamily="34" charset="-120"/>
              </a:rPr>
              <a:t>Resultados esperados</a:t>
            </a:r>
            <a:endParaRPr lang="en-US" sz="3200" dirty="0"/>
          </a:p>
        </p:txBody>
      </p:sp>
      <p:sp>
        <p:nvSpPr>
          <p:cNvPr id="4" name="Text 2"/>
          <p:cNvSpPr/>
          <p:nvPr/>
        </p:nvSpPr>
        <p:spPr>
          <a:xfrm>
            <a:off x="812800" y="2052241"/>
            <a:ext cx="1020318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2F1EC"/>
                </a:solidFill>
                <a:latin typeface="Space Grotesk" pitchFamily="34" charset="0"/>
                <a:ea typeface="Space Grotesk" pitchFamily="34" charset="-122"/>
                <a:cs typeface="Space Grotesk" pitchFamily="34" charset="-120"/>
              </a:rPr>
              <a:t>Nosso resultado não é "o dev aprendeu um conteúdo". É </a:t>
            </a:r>
            <a:r>
              <a:rPr lang="en-US" sz="2000" b="1" dirty="0">
                <a:solidFill>
                  <a:srgbClr val="F2F1EC"/>
                </a:solidFill>
                <a:latin typeface="Space Grotesk" pitchFamily="34" charset="0"/>
                <a:ea typeface="Space Grotesk" pitchFamily="34" charset="-122"/>
                <a:cs typeface="Space Grotesk" pitchFamily="34" charset="-120"/>
              </a:rPr>
              <a:t>reduzir o tempo entre saber programar e conseguir decidir sob pressão</a:t>
            </a:r>
            <a:r>
              <a:rPr lang="en-US" sz="2000" dirty="0">
                <a:solidFill>
                  <a:srgbClr val="F2F1EC"/>
                </a:solidFill>
                <a:latin typeface="Space Grotesk" pitchFamily="34" charset="0"/>
                <a:ea typeface="Space Grotesk" pitchFamily="34" charset="-122"/>
                <a:cs typeface="Space Grotesk" pitchFamily="34" charset="-120"/>
              </a:rPr>
              <a:t>.</a:t>
            </a:r>
            <a:endParaRPr lang="en-US" sz="2000" dirty="0"/>
          </a:p>
        </p:txBody>
      </p:sp>
      <p:sp>
        <p:nvSpPr>
          <p:cNvPr id="5" name="Shape 3"/>
          <p:cNvSpPr/>
          <p:nvPr/>
        </p:nvSpPr>
        <p:spPr>
          <a:xfrm>
            <a:off x="815975" y="3046016"/>
            <a:ext cx="3414117" cy="1725613"/>
          </a:xfrm>
          <a:prstGeom prst="roundRect">
            <a:avLst>
              <a:gd name="adj" fmla="val 4232"/>
            </a:avLst>
          </a:prstGeom>
          <a:solidFill>
            <a:srgbClr val="151518"/>
          </a:solidFill>
          <a:ln w="6350">
            <a:solidFill>
              <a:srgbClr val="2A2A2C"/>
            </a:solidFill>
            <a:prstDash val="solid"/>
          </a:ln>
        </p:spPr>
      </p:sp>
      <p:sp>
        <p:nvSpPr>
          <p:cNvPr id="6" name="Text 4"/>
          <p:cNvSpPr/>
          <p:nvPr/>
        </p:nvSpPr>
        <p:spPr>
          <a:xfrm>
            <a:off x="1047750" y="3277791"/>
            <a:ext cx="30390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F1EC"/>
                </a:solidFill>
                <a:latin typeface="Space Grotesk" pitchFamily="34" charset="0"/>
                <a:ea typeface="Space Grotesk" pitchFamily="34" charset="-122"/>
                <a:cs typeface="Space Grotesk" pitchFamily="34" charset="-120"/>
              </a:rPr>
              <a:t>No indivíduo</a:t>
            </a:r>
            <a:endParaRPr lang="en-US" sz="1500" dirty="0"/>
          </a:p>
        </p:txBody>
      </p:sp>
      <p:sp>
        <p:nvSpPr>
          <p:cNvPr id="7" name="Text 5"/>
          <p:cNvSpPr/>
          <p:nvPr/>
        </p:nvSpPr>
        <p:spPr>
          <a:xfrm>
            <a:off x="1047750" y="3582591"/>
            <a:ext cx="3039084" cy="98266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C7C0"/>
                </a:solidFill>
                <a:latin typeface="Space Grotesk" pitchFamily="34" charset="0"/>
                <a:ea typeface="Space Grotesk" pitchFamily="34" charset="-122"/>
                <a:cs typeface="Space Grotesk" pitchFamily="34" charset="-120"/>
              </a:rPr>
              <a:t>Gaps nomeados por sessão e queda da recorrência do mesmo gap ao longo da trilha. A métrica sai do próprio produto.</a:t>
            </a:r>
            <a:endParaRPr lang="en-US" sz="1300" dirty="0"/>
          </a:p>
        </p:txBody>
      </p:sp>
      <p:sp>
        <p:nvSpPr>
          <p:cNvPr id="8" name="Shape 6"/>
          <p:cNvSpPr/>
          <p:nvPr/>
        </p:nvSpPr>
        <p:spPr>
          <a:xfrm>
            <a:off x="4388842" y="3046016"/>
            <a:ext cx="3414216" cy="1725613"/>
          </a:xfrm>
          <a:prstGeom prst="roundRect">
            <a:avLst>
              <a:gd name="adj" fmla="val 4232"/>
            </a:avLst>
          </a:prstGeom>
          <a:solidFill>
            <a:srgbClr val="151518"/>
          </a:solidFill>
          <a:ln w="6350">
            <a:solidFill>
              <a:srgbClr val="2A2A2C"/>
            </a:solidFill>
            <a:prstDash val="solid"/>
          </a:ln>
        </p:spPr>
      </p:sp>
      <p:sp>
        <p:nvSpPr>
          <p:cNvPr id="9" name="Text 7"/>
          <p:cNvSpPr/>
          <p:nvPr/>
        </p:nvSpPr>
        <p:spPr>
          <a:xfrm>
            <a:off x="4620617" y="3277791"/>
            <a:ext cx="30391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F1EC"/>
                </a:solidFill>
                <a:latin typeface="Space Grotesk" pitchFamily="34" charset="0"/>
                <a:ea typeface="Space Grotesk" pitchFamily="34" charset="-122"/>
                <a:cs typeface="Space Grotesk" pitchFamily="34" charset="-120"/>
              </a:rPr>
              <a:t>Na empresa</a:t>
            </a:r>
            <a:endParaRPr lang="en-US" sz="1500" dirty="0"/>
          </a:p>
        </p:txBody>
      </p:sp>
      <p:sp>
        <p:nvSpPr>
          <p:cNvPr id="10" name="Text 8"/>
          <p:cNvSpPr/>
          <p:nvPr/>
        </p:nvSpPr>
        <p:spPr>
          <a:xfrm>
            <a:off x="4620617" y="3582591"/>
            <a:ext cx="3039186"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C7C0"/>
                </a:solidFill>
                <a:latin typeface="Space Grotesk" pitchFamily="34" charset="0"/>
                <a:ea typeface="Space Grotesk" pitchFamily="34" charset="-122"/>
                <a:cs typeface="Space Grotesk" pitchFamily="34" charset="-120"/>
              </a:rPr>
              <a:t>Semanas até a primeira entrega autônoma do dev contratado, contra o rampeamento histórico do time.</a:t>
            </a:r>
            <a:endParaRPr lang="en-US" sz="1300" dirty="0"/>
          </a:p>
        </p:txBody>
      </p:sp>
      <p:sp>
        <p:nvSpPr>
          <p:cNvPr id="11" name="Shape 9"/>
          <p:cNvSpPr/>
          <p:nvPr/>
        </p:nvSpPr>
        <p:spPr>
          <a:xfrm>
            <a:off x="7961809" y="3046016"/>
            <a:ext cx="3414216" cy="1725613"/>
          </a:xfrm>
          <a:prstGeom prst="roundRect">
            <a:avLst>
              <a:gd name="adj" fmla="val 4232"/>
            </a:avLst>
          </a:prstGeom>
          <a:solidFill>
            <a:srgbClr val="151518"/>
          </a:solidFill>
          <a:ln w="6350">
            <a:solidFill>
              <a:srgbClr val="2A2A2C"/>
            </a:solidFill>
            <a:prstDash val="solid"/>
          </a:ln>
        </p:spPr>
      </p:sp>
      <p:sp>
        <p:nvSpPr>
          <p:cNvPr id="12" name="Text 10"/>
          <p:cNvSpPr/>
          <p:nvPr/>
        </p:nvSpPr>
        <p:spPr>
          <a:xfrm>
            <a:off x="8193584" y="3277791"/>
            <a:ext cx="30391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F1EC"/>
                </a:solidFill>
                <a:latin typeface="Space Grotesk" pitchFamily="34" charset="0"/>
                <a:ea typeface="Space Grotesk" pitchFamily="34" charset="-122"/>
                <a:cs typeface="Space Grotesk" pitchFamily="34" charset="-120"/>
              </a:rPr>
              <a:t>No acesso</a:t>
            </a:r>
            <a:endParaRPr lang="en-US" sz="1500" dirty="0"/>
          </a:p>
        </p:txBody>
      </p:sp>
      <p:sp>
        <p:nvSpPr>
          <p:cNvPr id="13" name="Text 11"/>
          <p:cNvSpPr/>
          <p:nvPr/>
        </p:nvSpPr>
        <p:spPr>
          <a:xfrm>
            <a:off x="8193584" y="3582591"/>
            <a:ext cx="3039186"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C7C0"/>
                </a:solidFill>
                <a:latin typeface="Space Grotesk" pitchFamily="34" charset="0"/>
                <a:ea typeface="Space Grotesk" pitchFamily="34" charset="-122"/>
                <a:cs typeface="Space Grotesk" pitchFamily="34" charset="-120"/>
              </a:rPr>
              <a:t>Prática deliberada sem depender de sorte de alocação — nenhum dos 6 entrevistados teve mentoria formal.</a:t>
            </a:r>
            <a:endParaRPr lang="en-US" sz="1300" dirty="0"/>
          </a:p>
        </p:txBody>
      </p:sp>
      <p:sp>
        <p:nvSpPr>
          <p:cNvPr id="14" name="Text 12"/>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880"/>
                </a:solidFill>
                <a:latin typeface="Space Mono" pitchFamily="34" charset="0"/>
                <a:ea typeface="Space Mono" pitchFamily="34" charset="-122"/>
                <a:cs typeface="Space Mono" pitchFamily="34" charset="-120"/>
              </a:rPr>
              <a:t>Metas numéricas só serão declaradas após a primeira coorte de uso real — apresentamos o método de medição, não percentuais sem base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0C"/>
        </a:solidFill>
      </p:bgPr>
    </p:bg>
    <p:spTree>
      <p:nvGrpSpPr>
        <p:cNvPr id="1" name=""/>
        <p:cNvGrpSpPr/>
        <p:nvPr/>
      </p:nvGrpSpPr>
      <p:grpSpPr>
        <a:xfrm>
          <a:off x="0" y="0"/>
          <a:ext cx="0" cy="0"/>
          <a:chOff x="0" y="0"/>
          <a:chExt cx="0" cy="0"/>
        </a:xfrm>
      </p:grpSpPr>
      <p:sp>
        <p:nvSpPr>
          <p:cNvPr id="2" name="Text 0"/>
          <p:cNvSpPr/>
          <p:nvPr/>
        </p:nvSpPr>
        <p:spPr>
          <a:xfrm>
            <a:off x="812800" y="14503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78BFA"/>
                </a:solidFill>
                <a:latin typeface="Space Mono" pitchFamily="34" charset="0"/>
                <a:ea typeface="Space Mono" pitchFamily="34" charset="-122"/>
                <a:cs typeface="Space Mono" pitchFamily="34" charset="-120"/>
              </a:rPr>
              <a:t>07 / TEMA</a:t>
            </a:r>
            <a:endParaRPr lang="en-US" sz="1200" dirty="0"/>
          </a:p>
        </p:txBody>
      </p:sp>
      <p:sp>
        <p:nvSpPr>
          <p:cNvPr id="3" name="Text 1"/>
          <p:cNvSpPr/>
          <p:nvPr/>
        </p:nvSpPr>
        <p:spPr>
          <a:xfrm>
            <a:off x="812800" y="1917700"/>
            <a:ext cx="1020318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2F1EC"/>
                </a:solidFill>
                <a:latin typeface="Space Grotesk" pitchFamily="34" charset="0"/>
                <a:ea typeface="Space Grotesk" pitchFamily="34" charset="-122"/>
                <a:cs typeface="Space Grotesk" pitchFamily="34" charset="-120"/>
              </a:rPr>
              <a:t>Potencializando o ser humano com IA</a:t>
            </a:r>
            <a:endParaRPr lang="en-US" sz="3200" dirty="0"/>
          </a:p>
        </p:txBody>
      </p:sp>
      <p:sp>
        <p:nvSpPr>
          <p:cNvPr id="4" name="Text 2"/>
          <p:cNvSpPr/>
          <p:nvPr/>
        </p:nvSpPr>
        <p:spPr>
          <a:xfrm>
            <a:off x="812800" y="2639020"/>
            <a:ext cx="1020318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2F1EC"/>
                </a:solidFill>
                <a:latin typeface="Space Grotesk" pitchFamily="34" charset="0"/>
                <a:ea typeface="Space Grotesk" pitchFamily="34" charset="-122"/>
                <a:cs typeface="Space Grotesk" pitchFamily="34" charset="-120"/>
              </a:rPr>
              <a:t>A IA não substitui o aprendizado. Ela cria o ambiente que acelera a maturidade técnica de forma que nenhum curso convencional consegue.</a:t>
            </a:r>
            <a:endParaRPr lang="en-US" sz="2000" dirty="0"/>
          </a:p>
        </p:txBody>
      </p:sp>
      <p:sp>
        <p:nvSpPr>
          <p:cNvPr id="5" name="Shape 3"/>
          <p:cNvSpPr/>
          <p:nvPr/>
        </p:nvSpPr>
        <p:spPr>
          <a:xfrm>
            <a:off x="825500" y="3604220"/>
            <a:ext cx="0" cy="1600200"/>
          </a:xfrm>
          <a:prstGeom prst="line">
            <a:avLst/>
          </a:prstGeom>
          <a:noFill/>
          <a:ln w="25400">
            <a:solidFill>
              <a:srgbClr val="A78BFA"/>
            </a:solidFill>
            <a:prstDash val="solid"/>
          </a:ln>
        </p:spPr>
      </p:sp>
      <p:sp>
        <p:nvSpPr>
          <p:cNvPr id="6" name="Text 4"/>
          <p:cNvSpPr/>
          <p:nvPr/>
        </p:nvSpPr>
        <p:spPr>
          <a:xfrm>
            <a:off x="1041400" y="3680420"/>
            <a:ext cx="1064793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C7C0"/>
                </a:solidFill>
                <a:latin typeface="Space Grotesk" pitchFamily="34" charset="0"/>
                <a:ea typeface="Space Grotesk" pitchFamily="34" charset="-122"/>
                <a:cs typeface="Space Grotesk" pitchFamily="34" charset="-120"/>
              </a:rPr>
              <a:t>Usa IA como parceira de desenvolvimento humano, não como substituta</a:t>
            </a:r>
            <a:endParaRPr lang="en-US" sz="1500" dirty="0"/>
          </a:p>
        </p:txBody>
      </p:sp>
      <p:sp>
        <p:nvSpPr>
          <p:cNvPr id="7" name="Text 5"/>
          <p:cNvSpPr/>
          <p:nvPr/>
        </p:nvSpPr>
        <p:spPr>
          <a:xfrm>
            <a:off x="1041400" y="4074120"/>
            <a:ext cx="1064793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C7C0"/>
                </a:solidFill>
                <a:latin typeface="Space Grotesk" pitchFamily="34" charset="0"/>
                <a:ea typeface="Space Grotesk" pitchFamily="34" charset="-122"/>
                <a:cs typeface="Space Grotesk" pitchFamily="34" charset="-120"/>
              </a:rPr>
              <a:t>Amplifica a capacidade de aprender com erros seguros em contexto real</a:t>
            </a:r>
            <a:endParaRPr lang="en-US" sz="1500" dirty="0"/>
          </a:p>
        </p:txBody>
      </p:sp>
      <p:sp>
        <p:nvSpPr>
          <p:cNvPr id="8" name="Text 6"/>
          <p:cNvSpPr/>
          <p:nvPr/>
        </p:nvSpPr>
        <p:spPr>
          <a:xfrm>
            <a:off x="1041400" y="4467820"/>
            <a:ext cx="1064793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C7C0"/>
                </a:solidFill>
                <a:latin typeface="Space Grotesk" pitchFamily="34" charset="0"/>
                <a:ea typeface="Space Grotesk" pitchFamily="34" charset="-122"/>
                <a:cs typeface="Space Grotesk" pitchFamily="34" charset="-120"/>
              </a:rPr>
              <a:t>Gera inclusão: qualquer dev com internet acessa mentoria de nível sênior</a:t>
            </a:r>
            <a:endParaRPr lang="en-US" sz="1500" dirty="0"/>
          </a:p>
        </p:txBody>
      </p:sp>
      <p:sp>
        <p:nvSpPr>
          <p:cNvPr id="9" name="Text 7"/>
          <p:cNvSpPr/>
          <p:nvPr/>
        </p:nvSpPr>
        <p:spPr>
          <a:xfrm>
            <a:off x="1041400" y="4861520"/>
            <a:ext cx="1064793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C7C0"/>
                </a:solidFill>
                <a:latin typeface="Space Grotesk" pitchFamily="34" charset="0"/>
                <a:ea typeface="Space Grotesk" pitchFamily="34" charset="-122"/>
                <a:cs typeface="Space Grotesk" pitchFamily="34" charset="-120"/>
              </a:rPr>
              <a:t>Impacto direto na empregabilidade e na cadeia produtiva de tech do Brasil</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8F135"/>
                </a:solidFill>
                <a:latin typeface="Space Mono" pitchFamily="34" charset="0"/>
                <a:ea typeface="Space Mono" pitchFamily="34" charset="-122"/>
                <a:cs typeface="Space Mono" pitchFamily="34" charset="-120"/>
              </a:rPr>
              <a:t>08 / FECHAMENTO</a:t>
            </a:r>
            <a:endParaRPr lang="en-US" sz="1200" dirty="0"/>
          </a:p>
        </p:txBody>
      </p:sp>
      <p:sp>
        <p:nvSpPr>
          <p:cNvPr id="3" name="Text 1"/>
          <p:cNvSpPr/>
          <p:nvPr/>
        </p:nvSpPr>
        <p:spPr>
          <a:xfrm>
            <a:off x="812800" y="12801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2F1EC"/>
                </a:solidFill>
                <a:latin typeface="Space Grotesk" pitchFamily="34" charset="0"/>
                <a:ea typeface="Space Grotesk" pitchFamily="34" charset="-122"/>
                <a:cs typeface="Space Grotesk" pitchFamily="34" charset="-120"/>
              </a:rPr>
              <a:t>O MVP está no ar — teste agora</a:t>
            </a:r>
            <a:endParaRPr lang="en-US" sz="3200" dirty="0"/>
          </a:p>
        </p:txBody>
      </p:sp>
      <p:sp>
        <p:nvSpPr>
          <p:cNvPr id="4" name="Shape 2"/>
          <p:cNvSpPr/>
          <p:nvPr/>
        </p:nvSpPr>
        <p:spPr>
          <a:xfrm>
            <a:off x="812800" y="2001441"/>
            <a:ext cx="3420467" cy="1728192"/>
          </a:xfrm>
          <a:prstGeom prst="roundRect">
            <a:avLst>
              <a:gd name="adj" fmla="val 4409"/>
            </a:avLst>
          </a:prstGeom>
          <a:solidFill>
            <a:srgbClr val="151518"/>
          </a:solidFill>
          <a:ln/>
        </p:spPr>
      </p:sp>
      <p:sp>
        <p:nvSpPr>
          <p:cNvPr id="5" name="Shape 3"/>
          <p:cNvSpPr/>
          <p:nvPr/>
        </p:nvSpPr>
        <p:spPr>
          <a:xfrm>
            <a:off x="825500" y="2001441"/>
            <a:ext cx="0" cy="1728192"/>
          </a:xfrm>
          <a:prstGeom prst="line">
            <a:avLst/>
          </a:prstGeom>
          <a:noFill/>
          <a:ln w="25400">
            <a:solidFill>
              <a:srgbClr val="C8F135"/>
            </a:solidFill>
            <a:prstDash val="solid"/>
          </a:ln>
        </p:spPr>
      </p:sp>
      <p:sp>
        <p:nvSpPr>
          <p:cNvPr id="6" name="Text 4"/>
          <p:cNvSpPr/>
          <p:nvPr/>
        </p:nvSpPr>
        <p:spPr>
          <a:xfrm>
            <a:off x="1066800" y="2230041"/>
            <a:ext cx="302600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F1EC"/>
                </a:solidFill>
                <a:latin typeface="Space Grotesk" pitchFamily="34" charset="0"/>
                <a:ea typeface="Space Grotesk" pitchFamily="34" charset="-122"/>
                <a:cs typeface="Space Grotesk" pitchFamily="34" charset="-120"/>
              </a:rPr>
              <a:t>Aplicação</a:t>
            </a:r>
            <a:endParaRPr lang="en-US" sz="1400" dirty="0"/>
          </a:p>
        </p:txBody>
      </p:sp>
      <p:sp>
        <p:nvSpPr>
          <p:cNvPr id="7" name="Text 5"/>
          <p:cNvSpPr/>
          <p:nvPr/>
        </p:nvSpPr>
        <p:spPr>
          <a:xfrm>
            <a:off x="1066800" y="2519561"/>
            <a:ext cx="3026003"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8F135"/>
                </a:solidFill>
                <a:latin typeface="Space Mono" pitchFamily="34" charset="0"/>
                <a:ea typeface="Space Mono" pitchFamily="34" charset="-122"/>
                <a:cs typeface="Space Mono" pitchFamily="34" charset="-120"/>
              </a:rPr>
              <a:t>https://167.234.231.141/</a:t>
            </a:r>
            <a:endParaRPr lang="en-US" sz="1300" dirty="0"/>
          </a:p>
        </p:txBody>
      </p:sp>
      <p:sp>
        <p:nvSpPr>
          <p:cNvPr id="8" name="Text 6"/>
          <p:cNvSpPr/>
          <p:nvPr/>
        </p:nvSpPr>
        <p:spPr>
          <a:xfrm>
            <a:off x="1066800" y="2835077"/>
            <a:ext cx="302600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880"/>
                </a:solidFill>
                <a:latin typeface="Space Grotesk" pitchFamily="34" charset="0"/>
                <a:ea typeface="Space Grotesk" pitchFamily="34" charset="-122"/>
                <a:cs typeface="Space Grotesk" pitchFamily="34" charset="-120"/>
              </a:rPr>
              <a:t>Certificado autoassinado: escolha "Avançado" e prossiga.</a:t>
            </a:r>
            <a:endParaRPr lang="en-US" sz="1200" dirty="0"/>
          </a:p>
        </p:txBody>
      </p:sp>
      <p:sp>
        <p:nvSpPr>
          <p:cNvPr id="9" name="Shape 7"/>
          <p:cNvSpPr/>
          <p:nvPr/>
        </p:nvSpPr>
        <p:spPr>
          <a:xfrm>
            <a:off x="4385667" y="2001441"/>
            <a:ext cx="3420566" cy="1728192"/>
          </a:xfrm>
          <a:prstGeom prst="roundRect">
            <a:avLst>
              <a:gd name="adj" fmla="val 4409"/>
            </a:avLst>
          </a:prstGeom>
          <a:solidFill>
            <a:srgbClr val="151518"/>
          </a:solidFill>
          <a:ln/>
        </p:spPr>
      </p:sp>
      <p:sp>
        <p:nvSpPr>
          <p:cNvPr id="10" name="Shape 8"/>
          <p:cNvSpPr/>
          <p:nvPr/>
        </p:nvSpPr>
        <p:spPr>
          <a:xfrm>
            <a:off x="4398367" y="2001441"/>
            <a:ext cx="0" cy="1728192"/>
          </a:xfrm>
          <a:prstGeom prst="line">
            <a:avLst/>
          </a:prstGeom>
          <a:noFill/>
          <a:ln w="25400">
            <a:solidFill>
              <a:srgbClr val="C8F135"/>
            </a:solidFill>
            <a:prstDash val="solid"/>
          </a:ln>
        </p:spPr>
      </p:sp>
      <p:sp>
        <p:nvSpPr>
          <p:cNvPr id="11" name="Text 9"/>
          <p:cNvSpPr/>
          <p:nvPr/>
        </p:nvSpPr>
        <p:spPr>
          <a:xfrm>
            <a:off x="4639667" y="2230041"/>
            <a:ext cx="302610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F1EC"/>
                </a:solidFill>
                <a:latin typeface="Space Grotesk" pitchFamily="34" charset="0"/>
                <a:ea typeface="Space Grotesk" pitchFamily="34" charset="-122"/>
                <a:cs typeface="Space Grotesk" pitchFamily="34" charset="-120"/>
              </a:rPr>
              <a:t>Repositório</a:t>
            </a:r>
            <a:endParaRPr lang="en-US" sz="1400" dirty="0"/>
          </a:p>
        </p:txBody>
      </p:sp>
      <p:sp>
        <p:nvSpPr>
          <p:cNvPr id="12" name="Text 10"/>
          <p:cNvSpPr/>
          <p:nvPr/>
        </p:nvSpPr>
        <p:spPr>
          <a:xfrm>
            <a:off x="4639667" y="2519561"/>
            <a:ext cx="3026105"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8F135"/>
                </a:solidFill>
                <a:latin typeface="Space Mono" pitchFamily="34" charset="0"/>
                <a:ea typeface="Space Mono" pitchFamily="34" charset="-122"/>
                <a:cs typeface="Space Mono" pitchFamily="34" charset="-120"/>
              </a:rPr>
              <a:t>github.com/NyEstevo/senior-lab</a:t>
            </a:r>
            <a:endParaRPr lang="en-US" sz="1300" dirty="0"/>
          </a:p>
        </p:txBody>
      </p:sp>
      <p:sp>
        <p:nvSpPr>
          <p:cNvPr id="13" name="Text 11"/>
          <p:cNvSpPr/>
          <p:nvPr/>
        </p:nvSpPr>
        <p:spPr>
          <a:xfrm>
            <a:off x="4639667" y="3074392"/>
            <a:ext cx="302610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880"/>
                </a:solidFill>
                <a:latin typeface="Space Grotesk" pitchFamily="34" charset="0"/>
                <a:ea typeface="Space Grotesk" pitchFamily="34" charset="-122"/>
                <a:cs typeface="Space Grotesk" pitchFamily="34" charset="-120"/>
              </a:rPr>
              <a:t>Código, README com arquitetura e o Terraform da infra.</a:t>
            </a:r>
            <a:endParaRPr lang="en-US" sz="1200" dirty="0"/>
          </a:p>
        </p:txBody>
      </p:sp>
      <p:sp>
        <p:nvSpPr>
          <p:cNvPr id="14" name="Shape 12"/>
          <p:cNvSpPr/>
          <p:nvPr/>
        </p:nvSpPr>
        <p:spPr>
          <a:xfrm>
            <a:off x="7958634" y="2001441"/>
            <a:ext cx="3420566" cy="1728192"/>
          </a:xfrm>
          <a:prstGeom prst="roundRect">
            <a:avLst>
              <a:gd name="adj" fmla="val 4409"/>
            </a:avLst>
          </a:prstGeom>
          <a:solidFill>
            <a:srgbClr val="151518"/>
          </a:solidFill>
          <a:ln/>
        </p:spPr>
      </p:sp>
      <p:sp>
        <p:nvSpPr>
          <p:cNvPr id="15" name="Shape 13"/>
          <p:cNvSpPr/>
          <p:nvPr/>
        </p:nvSpPr>
        <p:spPr>
          <a:xfrm>
            <a:off x="7971334" y="2001441"/>
            <a:ext cx="0" cy="1728192"/>
          </a:xfrm>
          <a:prstGeom prst="line">
            <a:avLst/>
          </a:prstGeom>
          <a:noFill/>
          <a:ln w="25400">
            <a:solidFill>
              <a:srgbClr val="C8F135"/>
            </a:solidFill>
            <a:prstDash val="solid"/>
          </a:ln>
        </p:spPr>
      </p:sp>
      <p:sp>
        <p:nvSpPr>
          <p:cNvPr id="16" name="Text 14"/>
          <p:cNvSpPr/>
          <p:nvPr/>
        </p:nvSpPr>
        <p:spPr>
          <a:xfrm>
            <a:off x="8212634" y="2230041"/>
            <a:ext cx="302610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F1EC"/>
                </a:solidFill>
                <a:latin typeface="Space Grotesk" pitchFamily="34" charset="0"/>
                <a:ea typeface="Space Grotesk" pitchFamily="34" charset="-122"/>
                <a:cs typeface="Space Grotesk" pitchFamily="34" charset="-120"/>
              </a:rPr>
              <a:t>Acesso</a:t>
            </a:r>
            <a:endParaRPr lang="en-US" sz="1400" dirty="0"/>
          </a:p>
        </p:txBody>
      </p:sp>
      <p:sp>
        <p:nvSpPr>
          <p:cNvPr id="17" name="Text 15"/>
          <p:cNvSpPr/>
          <p:nvPr/>
        </p:nvSpPr>
        <p:spPr>
          <a:xfrm>
            <a:off x="8212634" y="2519561"/>
            <a:ext cx="3026105" cy="98266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C7C0"/>
                </a:solidFill>
                <a:latin typeface="Space Grotesk" pitchFamily="34" charset="0"/>
                <a:ea typeface="Space Grotesk" pitchFamily="34" charset="-122"/>
                <a:cs typeface="Space Grotesk" pitchFamily="34" charset="-120"/>
              </a:rPr>
              <a:t>Sem login. Basta a chave da API da Anthropic informada pelo próprio avaliador, que fica no navegador dele.</a:t>
            </a:r>
            <a:endParaRPr lang="en-US" sz="1300" dirty="0"/>
          </a:p>
        </p:txBody>
      </p:sp>
      <p:sp>
        <p:nvSpPr>
          <p:cNvPr id="18" name="Shape 16"/>
          <p:cNvSpPr/>
          <p:nvPr/>
        </p:nvSpPr>
        <p:spPr>
          <a:xfrm>
            <a:off x="812800" y="3986808"/>
            <a:ext cx="10566400" cy="0"/>
          </a:xfrm>
          <a:prstGeom prst="line">
            <a:avLst/>
          </a:prstGeom>
          <a:noFill/>
          <a:ln w="6350">
            <a:solidFill>
              <a:srgbClr val="2A2A2C"/>
            </a:solidFill>
            <a:prstDash val="solid"/>
          </a:ln>
        </p:spPr>
      </p:sp>
      <p:sp>
        <p:nvSpPr>
          <p:cNvPr id="19" name="Text 17"/>
          <p:cNvSpPr/>
          <p:nvPr/>
        </p:nvSpPr>
        <p:spPr>
          <a:xfrm>
            <a:off x="812800" y="4167783"/>
            <a:ext cx="108833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F1EC"/>
                </a:solidFill>
                <a:latin typeface="Space Grotesk" pitchFamily="34" charset="0"/>
                <a:ea typeface="Space Grotesk" pitchFamily="34" charset="-122"/>
                <a:cs typeface="Space Grotesk" pitchFamily="34" charset="-120"/>
              </a:rPr>
              <a:t>Próximo passo</a:t>
            </a:r>
            <a:endParaRPr lang="en-US" sz="1500" dirty="0"/>
          </a:p>
        </p:txBody>
      </p:sp>
      <p:sp>
        <p:nvSpPr>
          <p:cNvPr id="20" name="Text 18"/>
          <p:cNvSpPr/>
          <p:nvPr/>
        </p:nvSpPr>
        <p:spPr>
          <a:xfrm>
            <a:off x="812800" y="4485283"/>
            <a:ext cx="1020318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C9C7C0"/>
                </a:solidFill>
                <a:latin typeface="Space Grotesk" pitchFamily="34" charset="0"/>
                <a:ea typeface="Space Grotesk" pitchFamily="34" charset="-122"/>
                <a:cs typeface="Space Grotesk" pitchFamily="34" charset="-120"/>
              </a:rPr>
              <a:t>Ampliar a validação para dez ou mais desenvolvedores, com sessões reais do produto — e medir o custo real por sessão para fechar a margem.</a:t>
            </a:r>
            <a:endParaRPr lang="en-US" sz="15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F135"/>
                </a:solidFill>
                <a:latin typeface="Space Mono" pitchFamily="34" charset="0"/>
                <a:ea typeface="Space Mono" pitchFamily="34" charset="-122"/>
                <a:cs typeface="Space Mono" pitchFamily="34" charset="-120"/>
              </a:rPr>
              <a:t>SeniorLab · Tech4Change 2026 · Grupo 16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SeniorLab — Pitch em slides</dc:title>
  <dc:subject>PptxGenJS Presentation</dc:subject>
  <dc:creator>PptxGenJS</dc:creator>
  <cp:lastModifiedBy>PptxGenJS</cp:lastModifiedBy>
  <cp:revision>1</cp:revision>
  <dcterms:created xsi:type="dcterms:W3CDTF">2026-09-20T23:17:02Z</dcterms:created>
  <dcterms:modified xsi:type="dcterms:W3CDTF">2026-09-20T23:17:02Z</dcterms:modified>
</cp:coreProperties>
</file>